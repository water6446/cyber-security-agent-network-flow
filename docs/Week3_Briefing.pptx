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00" r:id="rId2"/>
    <p:sldId id="301" r:id="rId3"/>
    <p:sldId id="302" r:id="rId4"/>
    <p:sldId id="303" r:id="rId6"/>
    <p:sldId id="304" r:id="rId9"/>
    <p:sldId id="305" r:id="rId22"/>
    <p:sldId id="306" r:id="rId10"/>
    <p:sldId id="307" r:id="rId23"/>
    <p:sldId id="308" r:id="rId7"/>
    <p:sldId id="309" r:id="rId12"/>
    <p:sldId id="310" r:id="rId16"/>
    <p:sldId id="311" r:id="rId13"/>
    <p:sldId id="312" r:id="rId11"/>
    <p:sldId id="313" r:id="rId24"/>
    <p:sldId id="314" r:id="rId25"/>
    <p:sldId id="31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9.xml"/><Relationship Id="rId9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13.xml"/><Relationship Id="rId12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6.xml"/><Relationship Id="rId16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6.xml"/><Relationship Id="rId23" Type="http://schemas.openxmlformats.org/officeDocument/2006/relationships/slide" Target="slides/slide8.xml"/><Relationship Id="rId24" Type="http://schemas.openxmlformats.org/officeDocument/2006/relationships/slide" Target="slides/slide14.xml"/><Relationship Id="rId2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05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58AC2-45E2-B99F-2A83-141347AB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EE0EC-DFD2-DF53-B6C7-E19550E9E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D66BA-1238-4F2D-D24F-0EAC14622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68C74-6EC6-51CA-C8B7-4374BF2C3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59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0FCA4-B852-4B77-8348-B8D669AB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716AD-992C-351A-E1D6-0F6608E7C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71C70-8EE0-B846-B3C6-5AC7DCB1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B88F8-D69E-6D3B-E870-9BA6A23698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41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457200" cy="91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The Threat Intel Agent &amp; Connecting the Team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 Jansen   ·   Week 3 Briefing   ·   University of Utah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of Week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latin typeface="+mj-lt"/>
              </a:rPr>
              <a:t>Built: </a:t>
            </a:r>
          </a:p>
          <a:p>
            <a:r>
              <a:rPr lang="en-US" sz="1400" dirty="0">
                <a:latin typeface="+mj-lt"/>
              </a:rPr>
              <a:t>     The Threat Intelligence Agent</a:t>
            </a:r>
          </a:p>
          <a:p>
            <a:r>
              <a:rPr lang="en-US" sz="1400" dirty="0">
                <a:latin typeface="+mj-lt"/>
              </a:rPr>
              <a:t>          - Maps Network Analyst findings to real MITRE ATT&amp;CK techniques, with grounded citations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Questions Answered: </a:t>
            </a:r>
          </a:p>
          <a:p>
            <a:r>
              <a:rPr lang="en-US" sz="1400" dirty="0">
                <a:latin typeface="+mj-lt"/>
              </a:rPr>
              <a:t>     Can an agent cite ATT&amp;CK techniques without hallucinating IDs?</a:t>
            </a:r>
          </a:p>
          <a:p>
            <a:r>
              <a:rPr lang="en-US" sz="1400" dirty="0">
                <a:latin typeface="+mj-lt"/>
              </a:rPr>
              <a:t>     Can two agents talk to each other without losing determinism?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Reflection Question</a:t>
            </a:r>
          </a:p>
          <a:p>
            <a:r>
              <a:rPr lang="en-US" sz="1400" dirty="0">
                <a:latin typeface="+mj-lt"/>
              </a:rPr>
              <a:t>      What should agents share with each other?</a:t>
            </a:r>
          </a:p>
          <a:p>
            <a:pPr>
              <a:spcAft>
                <a:spcPts val="900"/>
              </a:spcAft>
              <a:buSzPct val="100000"/>
            </a:pPr>
            <a:endParaRPr lang="en-US" sz="1400" dirty="0">
              <a:solidFill>
                <a:srgbClr val="1E293B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Roadmap for Today: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400" dirty="0">
                <a:solidFill>
                  <a:srgbClr val="028090"/>
                </a:solidFill>
                <a:latin typeface="+mj-lt"/>
                <a:ea typeface="Calibri" pitchFamily="34" charset="-122"/>
                <a:cs typeface="Calibri" pitchFamily="34" charset="-120"/>
              </a:rPr>
              <a:t>the refactor  →  the new agent  →  grounding  →  the workflow  →  our tools vs LangGraph’s  →  grading it  →  week 4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6112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for full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96112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Analyst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325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8348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(week 2) — reads logs, finds attacks, reports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9842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(this week) — maps behavior to MITRE ATT&amp;CK, grounded citations, connected via LangGraph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642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Reasoning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642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642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timeline &amp; classify the stage  —  week 4, state seam ready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33009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3009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33009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incident summary  —  week 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BD63C-C2CB-DFA2-0D27-E7FEDDC4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E87F10-F6A8-C25C-7184-86E70F53F12B}"/>
              </a:ext>
            </a:extLst>
          </p:cNvPr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24C80D-1389-7A84-360D-1C808AE61245}"/>
              </a:ext>
            </a:extLst>
          </p:cNvPr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a Refactor: One Engine, Two Agents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CACD4F-60FB-51A4-D591-CC75E8B815E4}"/>
              </a:ext>
            </a:extLst>
          </p:cNvPr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3A6AB0-A09F-0EE0-AC1B-1FB2D7F57FE4}"/>
              </a:ext>
            </a:extLst>
          </p:cNvPr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18D4C1-CE9A-407E-3DC6-3B9F13826023}"/>
              </a:ext>
            </a:extLst>
          </p:cNvPr>
          <p:cNvSpPr/>
          <p:nvPr/>
        </p:nvSpPr>
        <p:spPr>
          <a:xfrm>
            <a:off x="713232" y="1188720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Week 2’s agent loop was about to be needed twice — the reusable machinery moved to agent_core.py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An agent is now just a configuration: a system prompt + tool definitions + tool implementations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Turn caps, forced final report, error feedback, compat shim — inherited by every future agent for free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New file map: agent_core · network_analyst · threat_intel · workflow · eval_sidecar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Regression rule: Week 2 standalone mode still works, untouched</a:t>
            </a:r>
          </a:p>
        </p:txBody>
      </p:sp>
    </p:spTree>
    <p:extLst>
      <p:ext uri="{BB962C8B-B14F-4D97-AF65-F5344CB8AC3E}">
        <p14:creationId xmlns:p14="http://schemas.microsoft.com/office/powerpoint/2010/main" val="14557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69EB3-F756-4299-0BC6-9BDF258B5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48B40A-7513-B45C-3DF3-CC71E56039D8}"/>
              </a:ext>
            </a:extLst>
          </p:cNvPr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913318-019B-9327-C3CF-15FADAF9541A}"/>
              </a:ext>
            </a:extLst>
          </p:cNvPr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Agent: Threat Intel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3E5A77-BD8D-F844-2B4B-5A6B69D3FC54}"/>
              </a:ext>
            </a:extLst>
          </p:cNvPr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9CB6FC-97A9-B3AE-7F55-DB60E0E6C10A}"/>
              </a:ext>
            </a:extLst>
          </p:cNvPr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932390-4CC6-6017-9037-8D9F93E39018}"/>
              </a:ext>
            </a:extLst>
          </p:cNvPr>
          <p:cNvSpPr/>
          <p:nvPr/>
        </p:nvSpPr>
        <p:spPr>
          <a:xfrm>
            <a:off x="351692" y="851877"/>
            <a:ext cx="8432800" cy="4032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 err="1"/>
              <a:t>The data layer</a:t>
            </a:r>
            <a:r>
              <a:rPr lang="en-US" sz="1300" b="1" dirty="0"/>
              <a:t/>
            </a:r>
            <a:r>
              <a:rPr lang="en-US" sz="1300" dirty="0"/>
              <a:t> — the real MITRE enterprise-attack.json (~50 MB STIX bundle): downloaded once, cached, deprecated entries filtered at load. </a:t>
            </a:r>
            <a:r>
              <a:rPr lang="en-US" sz="1300" i="1" dirty="0"/>
              <a:t>"Real ATT&amp;CK data, not model memory."</a:t>
            </a:r>
          </a:p>
          <a:p>
            <a:endParaRPr lang="en-US" sz="1300" dirty="0"/>
          </a:p>
          <a:p>
            <a:r>
              <a:rPr lang="en-US" sz="1300" b="1" dirty="0" err="1"/>
              <a:t>list_tactics</a:t>
            </a:r>
            <a:r>
              <a:rPr lang="en-US" sz="1300" b="1" dirty="0"/>
              <a:t>()</a:t>
            </a:r>
            <a:r>
              <a:rPr lang="en-US" sz="1300" dirty="0"/>
              <a:t> — the enterprise tactics in kill-chain order with one-line descriptions. Cheap orientation call. </a:t>
            </a:r>
            <a:r>
              <a:rPr lang="en-US" sz="1300" i="1" dirty="0"/>
              <a:t>"What stages exist?"</a:t>
            </a:r>
          </a:p>
          <a:p>
            <a:endParaRPr lang="en-US" sz="1300" dirty="0"/>
          </a:p>
          <a:p>
            <a:r>
              <a:rPr lang="en-US" sz="1300" b="1" dirty="0" err="1"/>
              <a:t>search_techniques</a:t>
            </a:r>
            <a:r>
              <a:rPr lang="en-US" sz="1300" b="1" dirty="0"/>
              <a:t>(query)</a:t>
            </a:r>
            <a:r>
              <a:rPr lang="en-US" sz="1300" dirty="0"/>
              <a:t> — keyword search over technique names and descriptions. Deliberately simple scoring — no embeddings. </a:t>
            </a:r>
            <a:r>
              <a:rPr lang="en-US" sz="1300" i="1" dirty="0"/>
              <a:t>"What matches brute force?"</a:t>
            </a:r>
          </a:p>
          <a:p>
            <a:endParaRPr lang="en-US" sz="1300" dirty="0"/>
          </a:p>
          <a:p>
            <a:r>
              <a:rPr lang="en-US" sz="1300" b="1" dirty="0" err="1"/>
              <a:t>get_technique</a:t>
            </a:r>
            <a:r>
              <a:rPr lang="en-US" sz="1300" b="1" dirty="0"/>
              <a:t>(id)</a:t>
            </a:r>
            <a:r>
              <a:rPr lang="en-US" sz="1300" dirty="0"/>
              <a:t> — full detail for one technique: description, tactics, detection notes, sub-techniques. Confirm before citing. </a:t>
            </a:r>
            <a:r>
              <a:rPr lang="en-US" sz="1300" i="1" dirty="0"/>
              <a:t>"Tell me everything about T1110."</a:t>
            </a:r>
          </a:p>
          <a:p>
            <a:endParaRPr lang="en-US" sz="1300" dirty="0"/>
          </a:p>
          <a:p>
            <a:r>
              <a:rPr lang="en-US" sz="1300" b="1" dirty="0" err="1"/>
              <a:t>The input</a:t>
            </a:r>
            <a:r>
              <a:rPr lang="en-US" sz="1300" b="1" dirty="0"/>
              <a:t/>
            </a:r>
            <a:r>
              <a:rPr lang="en-US" sz="1300" dirty="0"/>
              <a:t> — the Network Analyst’s structured findings JSON (F1..Fn). Never the raw CSV, never the markdown report. </a:t>
            </a:r>
            <a:r>
              <a:rPr lang="en-US" sz="1300" i="1" dirty="0"/>
              <a:t>"Each agent works at its own abstraction."</a:t>
            </a:r>
          </a:p>
          <a:p>
            <a:endParaRPr lang="en-US" sz="1300" dirty="0"/>
          </a:p>
          <a:p>
            <a:r>
              <a:rPr lang="en-US" sz="1300" b="1" dirty="0" err="1"/>
              <a:t>The output</a:t>
            </a:r>
            <a:r>
              <a:rPr lang="en-US" sz="1300" b="1" dirty="0"/>
              <a:t/>
            </a:r>
            <a:r>
              <a:rPr lang="en-US" sz="1300" dirty="0"/>
              <a:t> — a mapping per finding (technique, tactic, confidence, reasoning) plus optional evidence requests. </a:t>
            </a:r>
            <a:r>
              <a:rPr lang="en-US" sz="1300" i="1" dirty="0"/>
              <a:t>"The Week 4 input contract."</a:t>
            </a:r>
            <a:endParaRPr lang="en-US" sz="1300" dirty="0"/>
          </a:p>
          <a:p>
            <a:pPr>
              <a:spcAft>
                <a:spcPts val="800"/>
              </a:spcAft>
              <a:buSzPct val="100000"/>
            </a:pPr>
            <a:endParaRPr 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7167F8-4DCB-205D-BBD5-218A49B3FB12}"/>
              </a:ext>
            </a:extLst>
          </p:cNvPr>
          <p:cNvSpPr txBox="1"/>
          <p:nvPr/>
        </p:nvSpPr>
        <p:spPr>
          <a:xfrm>
            <a:off x="359508" y="4324982"/>
            <a:ext cx="85500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All three tools are ordinary Python over the real ATT&amp;CK dataset — deterministic, output-capped, error-safe. Every technique ID a tool returns is recorded for the grounding check (next slide).</a:t>
            </a:r>
          </a:p>
        </p:txBody>
      </p:sp>
    </p:spTree>
    <p:extLst>
      <p:ext uri="{BB962C8B-B14F-4D97-AF65-F5344CB8AC3E}">
        <p14:creationId xmlns:p14="http://schemas.microsoft.com/office/powerpoint/2010/main" val="308738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BD63C-C2CB-DFA2-0D27-E7FEDDC4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E87F10-F6A8-C25C-7184-86E70F53F12B}"/>
              </a:ext>
            </a:extLst>
          </p:cNvPr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24C80D-1389-7A84-360D-1C808AE61245}"/>
              </a:ext>
            </a:extLst>
          </p:cNvPr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Known Failure Mode: Hallucinated Technique IDs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CACD4F-60FB-51A4-D591-CC75E8B815E4}"/>
              </a:ext>
            </a:extLst>
          </p:cNvPr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3A6AB0-A09F-0EE0-AC1B-1FB2D7F57FE4}"/>
              </a:ext>
            </a:extLst>
          </p:cNvPr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18D4C1-CE9A-407E-3DC6-3B9F13826023}"/>
              </a:ext>
            </a:extLst>
          </p:cNvPr>
          <p:cNvSpPr/>
          <p:nvPr/>
        </p:nvSpPr>
        <p:spPr>
          <a:xfrm>
            <a:off x="713232" y="1188720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LLMs have memorized MITRE ATT&amp;CK — imperfectly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Ask about “SSH brute force” and you get a confident T-number straight from memory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Sometimes subtly wrong: wrong sub-technique, deprecated ID, or one that doesn’t exist at all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A wrong-but-confident technique ID in a security report is the one failure we can’t ship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The prompt says “cite only tool results” — but a prompt is a request, not a guarantee</a:t>
            </a:r>
          </a:p>
        </p:txBody>
      </p:sp>
    </p:spTree>
    <p:extLst>
      <p:ext uri="{BB962C8B-B14F-4D97-AF65-F5344CB8AC3E}">
        <p14:creationId xmlns:p14="http://schemas.microsoft.com/office/powerpoint/2010/main" val="14557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Enforcement: Code, Not Prompt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2529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exit funnel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result leaves through _emit(), which records every technique ID it contains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72821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run-long log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a run, code holds the full set of IDs the model legitimately saw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23113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output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every T-ID out of the agent’s report; check each against that log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273405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6974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failure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ID the tools never returned → [grounding] WARNING + flagged in the JSON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23697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2004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stamps the verdict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“verified”: true/false is written by code — the model never touches the field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3662172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152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62559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Takeaway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3 equivalent of hiding the Label column — citation integrity is now a computation</a:t>
            </a:r>
            <a:endParaRPr lang="en-US" sz="150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53AF75C-2CC3-FDC8-46D1-F0A2DC894CD2}"/>
              </a:ext>
            </a:extLst>
          </p:cNvPr>
          <p:cNvSpPr/>
          <p:nvPr/>
        </p:nvSpPr>
        <p:spPr>
          <a:xfrm>
            <a:off x="2313432" y="455371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≠ correct — the eval sidecar measures correctness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BD63C-C2CB-DFA2-0D27-E7FEDDC4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E87F10-F6A8-C25C-7184-86E70F53F12B}"/>
              </a:ext>
            </a:extLst>
          </p:cNvPr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24C80D-1389-7A84-360D-1C808AE61245}"/>
              </a:ext>
            </a:extLst>
          </p:cNvPr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Guess — Ask: Evidence Requests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CACD4F-60FB-51A4-D591-CC75E8B815E4}"/>
              </a:ext>
            </a:extLst>
          </p:cNvPr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3A6AB0-A09F-0EE0-AC1B-1FB2D7F57FE4}"/>
              </a:ext>
            </a:extLst>
          </p:cNvPr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18D4C1-CE9A-407E-3DC6-3B9F13826023}"/>
              </a:ext>
            </a:extLst>
          </p:cNvPr>
          <p:cNvSpPr/>
          <p:nvPr/>
        </p:nvSpPr>
        <p:spPr>
          <a:xfrm>
            <a:off x="713232" y="1188720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Rule 3 of the Threat Intel prompt: if evidence is too thin to map confidently, do NOT guess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Instead it emits an evidence request — a specific, answerable question for the Network Analyst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Each request names the finding it concerns and suggests a concrete pandas query to run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This is the hook the workflow turns into a real conversation between the two agents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An empty list is a valid answer — most findings map without needing one</a:t>
            </a:r>
          </a:p>
        </p:txBody>
      </p:sp>
    </p:spTree>
    <p:extLst>
      <p:ext uri="{BB962C8B-B14F-4D97-AF65-F5344CB8AC3E}">
        <p14:creationId xmlns:p14="http://schemas.microsoft.com/office/powerpoint/2010/main" val="14557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Workflow: One Graph, No Supervisor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143000"/>
            <a:ext cx="281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between, agentic within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281940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analyst → intel → END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code, not an LLM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share findings JSON only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600000"/>
            <a:ext cx="281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from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960000"/>
            <a:ext cx="2819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the compiled graph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drift from the code</a:t>
            </a:r>
            <a:endParaRPr lang="en-US"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5122D4-AA28-5F4C-5CBC-BD72CA65E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416" y="857817"/>
            <a:ext cx="5159387" cy="40845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Dynamic Edge: Feedback, Capped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487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98215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pass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98215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Threat Intel requests evidence, the Network Analyst gets exactly ONE targeted follow-up — the cap is enforced in the router; --force-evidence-request demos the edge on demand.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94610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04338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turns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04338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follow-up answers only the questions asked — a short budget, not a re-investigation. Then Threat Intel re-maps once, using the new answers.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977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loop in this system has a ceiling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Kept Our Own Tools (Build vs. Buy)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3258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721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LangGraph’s job: the graph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schema between agents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the one feedback edge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generated from the graph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Seams for weeks 4–5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65192" y="13258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E7EDF2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14721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job: the agents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66360" y="1892808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week-2 run_agent loop, unchanged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tool schemas — no @tool,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bind_tools, no create_react_agent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transcript line is our own code</a:t>
            </a:r>
            <a:endParaRPr 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F0FB17-9970-BB3B-E719-28456B2A0B58}"/>
              </a:ext>
            </a:extLst>
          </p:cNvPr>
          <p:cNvSpPr txBox="1"/>
          <p:nvPr/>
        </p:nvSpPr>
        <p:spPr>
          <a:xfrm>
            <a:off x="672124" y="3868615"/>
            <a:ext cx="6377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Adopt frameworks where they add structure (the graph), not where they replace understanding (the agents) — the same call as Week 2’s “no OpenAI / Claude Agents”.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It: Now Both Agents Get Graded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scorer unchanged: HIT / PARTIAL / MISS per attack + candidate false positives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mapping scorer: CORRECT (ID in the acceptable set)  ·  PLAUSIBLE (same tactic)  ·  WRONG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coverage gate separates blame: attacks no finding covered are the analyst’s miss, not the mapper’s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key:  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attack family → a SET of acceptable IDs — analysts reasonably disagree on sub-techniques</a:t>
            </a:r>
            <a:endParaRPr lang="en-US" sz="1500" dirty="0"/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lives only in the eval sidecar; agents never see it — same quarantine as the Label column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verify_answer_key() checks every ID in the key against live ATT&amp;CK before we trust it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grounding stats per run: technique IDs cited vs. verified against tool output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Run: CSV → Findings → Mappings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[node]  network_analyst — loads the CSV, investigates with the six pandas tools, emits findings JSON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[node]  threat_intel — searches ATT&amp;CK, confirms with get_technique, maps each finding F1..Fn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[edge]  evidence requests pending? → one targeted follow-up pass → re-map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[run]  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RUN INFO: model · CSV · wall time · cost</a:t>
            </a:r>
            <a:endParaRPr lang="en-US" sz="1500" dirty="0"/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RUN INFO: mappings produced — e.g. F1 → T1110.001 Password Guessing (verified: true)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ADD RUN INFO: eval verdicts — CORRECT / PLAUSIBLE / WRONG + grounding stats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produced findings.md/.json, mappings.md/.json, eval.txt, and the diagram — all in one run folder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BD63C-C2CB-DFA2-0D27-E7FEDDC4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E87F10-F6A8-C25C-7184-86E70F53F12B}"/>
              </a:ext>
            </a:extLst>
          </p:cNvPr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24C80D-1389-7A84-360D-1C808AE61245}"/>
              </a:ext>
            </a:extLst>
          </p:cNvPr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Week 2 Feedback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CACD4F-60FB-51A4-D591-CC75E8B815E4}"/>
              </a:ext>
            </a:extLst>
          </p:cNvPr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3A6AB0-A09F-0EE0-AC1B-1FB2D7F57FE4}"/>
              </a:ext>
            </a:extLst>
          </p:cNvPr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18D4C1-CE9A-407E-3DC6-3B9F13826023}"/>
              </a:ext>
            </a:extLst>
          </p:cNvPr>
          <p:cNvSpPr/>
          <p:nvPr/>
        </p:nvSpPr>
        <p:spPr>
          <a:xfrm>
            <a:off x="713232" y="1188720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You asked for three things after the Week 2 briefing — designed as one mechanism: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Narrate the plan, thinking, and a self-assessment → plan mode (--plan): narration rides along with tool calls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Learn from previous runs → a curated lessons file (--lessons) — human-gated, never auto-appended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Agent feedback on its tools → subjective retrospective + objective tool-call log, shown side by side</a:t>
            </a:r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Design is complete (plan_mode_handoff.md); implementation is the next work item</a:t>
            </a:r>
          </a:p>
        </p:txBody>
      </p:sp>
    </p:spTree>
    <p:extLst>
      <p:ext uri="{BB962C8B-B14F-4D97-AF65-F5344CB8AC3E}">
        <p14:creationId xmlns:p14="http://schemas.microsoft.com/office/powerpoint/2010/main" val="145576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What Should Agents Share?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3258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721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Share: distilled findings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with cited evidence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IPs, ports, counts — the analyst’s abstraction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Techniques, tactics — the mapper’s abstraction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answers, clearly labeled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65192" y="13258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E7EDF2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14721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share: everything else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66360" y="1892808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flows — 445k rows would blow the context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transcripts — noise, not signal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column / answer key — quarantined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technique IDs — grounding flags them</a:t>
            </a:r>
            <a:endParaRPr 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F0FB17-9970-BB3B-E719-28456B2A0B58}"/>
              </a:ext>
            </a:extLst>
          </p:cNvPr>
          <p:cNvSpPr txBox="1"/>
          <p:nvPr/>
        </p:nvSpPr>
        <p:spPr>
          <a:xfrm>
            <a:off x="672124" y="3868615"/>
            <a:ext cx="6377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 2 turned attribution into a computation (count_by). Week 3 turned citation integrity into one (the grounding log). The pattern: find the failure mode, make it a computation.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Preview: The Kill Chain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END → kill_chain in the router is the only graph change needed — the seam was left on purpose.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47872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kill_chain state key already exists, and list_tactics already returns tactics in kill-chain order for it to reuse.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82512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0" i="0" dirty="0">
                <a:solidFill>
                  <a:srgbClr val="08111F"/>
                </a:solidFill>
                <a:effectLst/>
                <a:latin typeface="-apple-system"/>
              </a:rPr>
              <a:t>a possible optimization from the handoff: map findings to techniques in parallel with LangGraph’s Send API.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977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2054</Words>
  <Application>Microsoft Office PowerPoint</Application>
  <PresentationFormat>On-screen Show (16:9)</PresentationFormat>
  <Paragraphs>177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Human Analysts to AI Agents</dc:title>
  <dc:subject>PptxGenJS Presentation</dc:subject>
  <dc:creator>Maximilian Jansen</dc:creator>
  <cp:lastModifiedBy>Jansen, Max</cp:lastModifiedBy>
  <cp:revision>3</cp:revision>
  <dcterms:created xsi:type="dcterms:W3CDTF">2026-06-25T17:46:10Z</dcterms:created>
  <dcterms:modified xsi:type="dcterms:W3CDTF">2026-07-03T19:58:13Z</dcterms:modified>
</cp:coreProperties>
</file>