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3" r:id="rId4"/>
    <p:sldId id="258" r:id="rId5"/>
    <p:sldId id="260" r:id="rId6"/>
    <p:sldId id="274" r:id="rId7"/>
    <p:sldId id="263" r:id="rId8"/>
    <p:sldId id="264" r:id="rId9"/>
    <p:sldId id="265" r:id="rId10"/>
    <p:sldId id="275" r:id="rId11"/>
    <p:sldId id="266" r:id="rId12"/>
    <p:sldId id="276" r:id="rId13"/>
    <p:sldId id="268" r:id="rId14"/>
    <p:sldId id="269"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9" d="100"/>
          <a:sy n="119" d="100"/>
        </p:scale>
        <p:origin x="16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93D"/>
        </a:solidFill>
        <a:effectLst/>
      </p:bgPr>
    </p:bg>
    <p:spTree>
      <p:nvGrpSpPr>
        <p:cNvPr id="1" name=""/>
        <p:cNvGrpSpPr/>
        <p:nvPr/>
      </p:nvGrpSpPr>
      <p:grpSpPr>
        <a:xfrm>
          <a:off x="0" y="0"/>
          <a:ext cx="0" cy="0"/>
          <a:chOff x="0" y="0"/>
          <a:chExt cx="0" cy="0"/>
        </a:xfrm>
      </p:grpSpPr>
      <p:sp>
        <p:nvSpPr>
          <p:cNvPr id="2" name="Rectangle 1"/>
          <p:cNvSpPr/>
          <p:nvPr/>
        </p:nvSpPr>
        <p:spPr>
          <a:xfrm>
            <a:off x="640080" y="1847088"/>
            <a:ext cx="502920" cy="502920"/>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350008"/>
            <a:ext cx="7955279" cy="1046440"/>
          </a:xfrm>
          <a:prstGeom prst="rect">
            <a:avLst/>
          </a:prstGeom>
          <a:noFill/>
        </p:spPr>
        <p:txBody>
          <a:bodyPr wrap="square" lIns="0" tIns="0" rIns="0" bIns="0" anchor="t">
            <a:spAutoFit/>
          </a:bodyPr>
          <a:lstStyle/>
          <a:p>
            <a:pPr algn="l">
              <a:spcBef>
                <a:spcPts val="0"/>
              </a:spcBef>
              <a:spcAft>
                <a:spcPts val="200"/>
              </a:spcAft>
            </a:pPr>
            <a:r>
              <a:rPr sz="3400" b="1" i="0" dirty="0">
                <a:solidFill>
                  <a:srgbClr val="FFFFFF"/>
                </a:solidFill>
                <a:latin typeface="Calibri"/>
              </a:rPr>
              <a:t>Week </a:t>
            </a:r>
            <a:r>
              <a:rPr lang="en-US" sz="3400" b="1" i="0" dirty="0">
                <a:solidFill>
                  <a:srgbClr val="FFFFFF"/>
                </a:solidFill>
                <a:latin typeface="Calibri"/>
              </a:rPr>
              <a:t>4-</a:t>
            </a:r>
            <a:r>
              <a:rPr sz="3400" b="1" i="0" dirty="0">
                <a:solidFill>
                  <a:srgbClr val="FFFFFF"/>
                </a:solidFill>
                <a:latin typeface="Calibri"/>
              </a:rPr>
              <a:t>5: The Kill Chain Agent</a:t>
            </a:r>
            <a:r>
              <a:rPr lang="en-US" sz="3400" b="1" i="0" dirty="0">
                <a:solidFill>
                  <a:srgbClr val="FFFFFF"/>
                </a:solidFill>
                <a:latin typeface="Calibri"/>
              </a:rPr>
              <a:t> &amp; Write Up Agent</a:t>
            </a:r>
            <a:endParaRPr sz="3400" b="1" i="0" dirty="0">
              <a:solidFill>
                <a:srgbClr val="FFFFFF"/>
              </a:solidFill>
              <a:latin typeface="Calibri"/>
            </a:endParaRPr>
          </a:p>
        </p:txBody>
      </p:sp>
      <p:sp>
        <p:nvSpPr>
          <p:cNvPr id="4" name="TextBox 3"/>
          <p:cNvSpPr txBox="1"/>
          <p:nvPr/>
        </p:nvSpPr>
        <p:spPr>
          <a:xfrm>
            <a:off x="640080" y="4343400"/>
            <a:ext cx="7863840" cy="184666"/>
          </a:xfrm>
          <a:prstGeom prst="rect">
            <a:avLst/>
          </a:prstGeom>
          <a:noFill/>
        </p:spPr>
        <p:txBody>
          <a:bodyPr wrap="square" lIns="0" tIns="0" rIns="0" bIns="0" anchor="t">
            <a:spAutoFit/>
          </a:bodyPr>
          <a:lstStyle/>
          <a:p>
            <a:pPr algn="l">
              <a:spcBef>
                <a:spcPts val="0"/>
              </a:spcBef>
              <a:spcAft>
                <a:spcPts val="600"/>
              </a:spcAft>
            </a:pPr>
            <a:r>
              <a:rPr sz="1200" b="0" i="0" dirty="0">
                <a:solidFill>
                  <a:srgbClr val="8AA6C0"/>
                </a:solidFill>
                <a:latin typeface="Calibri"/>
              </a:rPr>
              <a:t>Maximilian Jansen    ·    Week </a:t>
            </a:r>
            <a:r>
              <a:rPr lang="en-US" sz="1200" b="0" i="0" dirty="0">
                <a:solidFill>
                  <a:srgbClr val="8AA6C0"/>
                </a:solidFill>
                <a:latin typeface="Calibri"/>
              </a:rPr>
              <a:t>4-</a:t>
            </a:r>
            <a:r>
              <a:rPr sz="1200" b="0" i="0" dirty="0">
                <a:solidFill>
                  <a:srgbClr val="8AA6C0"/>
                </a:solidFill>
                <a:latin typeface="Calibri"/>
              </a:rPr>
              <a:t>5 Briefing    ·    AI Agents for Cybersecurity Defense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46304" cy="146304"/>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7955279" cy="415498"/>
          </a:xfrm>
          <a:prstGeom prst="rect">
            <a:avLst/>
          </a:prstGeom>
          <a:noFill/>
        </p:spPr>
        <p:txBody>
          <a:bodyPr wrap="square" lIns="0" tIns="0" rIns="0" bIns="0" anchor="t">
            <a:spAutoFit/>
          </a:bodyPr>
          <a:lstStyle/>
          <a:p>
            <a:pPr algn="l">
              <a:spcBef>
                <a:spcPts val="0"/>
              </a:spcBef>
              <a:spcAft>
                <a:spcPts val="600"/>
              </a:spcAft>
            </a:pPr>
            <a:r>
              <a:rPr lang="en-US" sz="2700" b="1" i="0" dirty="0">
                <a:solidFill>
                  <a:srgbClr val="13293D"/>
                </a:solidFill>
                <a:latin typeface="Calibri"/>
              </a:rPr>
              <a:t>Plan for Today</a:t>
            </a:r>
            <a:endParaRPr sz="2700" b="1" i="0" dirty="0">
              <a:solidFill>
                <a:srgbClr val="13293D"/>
              </a:solidFill>
              <a:latin typeface="Calibri"/>
            </a:endParaRPr>
          </a:p>
        </p:txBody>
      </p:sp>
      <p:sp>
        <p:nvSpPr>
          <p:cNvPr id="4" name="TextBox 3"/>
          <p:cNvSpPr txBox="1"/>
          <p:nvPr/>
        </p:nvSpPr>
        <p:spPr>
          <a:xfrm>
            <a:off x="457200" y="4828032"/>
            <a:ext cx="6858000" cy="228600"/>
          </a:xfrm>
          <a:prstGeom prst="rect">
            <a:avLst/>
          </a:prstGeom>
          <a:noFill/>
        </p:spPr>
        <p:txBody>
          <a:bodyPr wrap="square" lIns="0" tIns="0" rIns="0" bIns="0" anchor="t">
            <a:spAutoFit/>
          </a:bodyPr>
          <a:lstStyle/>
          <a:p>
            <a:pPr algn="l">
              <a:spcBef>
                <a:spcPts val="0"/>
              </a:spcBef>
              <a:spcAft>
                <a:spcPts val="600"/>
              </a:spcAft>
            </a:pPr>
            <a:r>
              <a:rPr sz="900" b="0" i="0">
                <a:solidFill>
                  <a:srgbClr val="64748B"/>
                </a:solidFill>
                <a:latin typeface="Calibri"/>
              </a:rPr>
              <a:t>Week 4–5  ·  AI Agents for Cybersecurity Defense</a:t>
            </a:r>
          </a:p>
        </p:txBody>
      </p:sp>
      <p:sp>
        <p:nvSpPr>
          <p:cNvPr id="5" name="TextBox 4"/>
          <p:cNvSpPr txBox="1"/>
          <p:nvPr/>
        </p:nvSpPr>
        <p:spPr>
          <a:xfrm>
            <a:off x="8321040" y="4828032"/>
            <a:ext cx="365760" cy="228600"/>
          </a:xfrm>
          <a:prstGeom prst="rect">
            <a:avLst/>
          </a:prstGeom>
          <a:noFill/>
        </p:spPr>
        <p:txBody>
          <a:bodyPr wrap="square" lIns="0" tIns="0" rIns="0" bIns="0" anchor="t">
            <a:spAutoFit/>
          </a:bodyPr>
          <a:lstStyle/>
          <a:p>
            <a:pPr algn="r">
              <a:spcBef>
                <a:spcPts val="0"/>
              </a:spcBef>
              <a:spcAft>
                <a:spcPts val="600"/>
              </a:spcAft>
            </a:pPr>
            <a:r>
              <a:rPr sz="900" b="0" i="0">
                <a:solidFill>
                  <a:srgbClr val="64748B"/>
                </a:solidFill>
                <a:latin typeface="Calibri"/>
              </a:rPr>
              <a:t>2</a:t>
            </a:r>
          </a:p>
        </p:txBody>
      </p:sp>
      <p:sp>
        <p:nvSpPr>
          <p:cNvPr id="6" name="TextBox 5"/>
          <p:cNvSpPr txBox="1"/>
          <p:nvPr/>
        </p:nvSpPr>
        <p:spPr>
          <a:xfrm>
            <a:off x="713232" y="1188720"/>
            <a:ext cx="7955279" cy="1628651"/>
          </a:xfrm>
          <a:prstGeom prst="rect">
            <a:avLst/>
          </a:prstGeom>
          <a:noFill/>
        </p:spPr>
        <p:txBody>
          <a:bodyPr wrap="square" lIns="0" tIns="0" rIns="0" bIns="0" anchor="t">
            <a:spAutoFit/>
          </a:bodyPr>
          <a:lstStyle/>
          <a:p>
            <a:pPr algn="l">
              <a:spcBef>
                <a:spcPts val="0"/>
              </a:spcBef>
              <a:spcAft>
                <a:spcPts val="1000"/>
              </a:spcAft>
            </a:pPr>
            <a:r>
              <a:rPr sz="1450" b="1" i="0" dirty="0">
                <a:solidFill>
                  <a:srgbClr val="13293D"/>
                </a:solidFill>
                <a:latin typeface="Calibri"/>
              </a:rPr>
              <a:t>•  The problem — </a:t>
            </a:r>
            <a:r>
              <a:rPr sz="1450" b="0" i="0" dirty="0">
                <a:solidFill>
                  <a:srgbClr val="1E293B"/>
                </a:solidFill>
                <a:latin typeface="Calibri"/>
              </a:rPr>
              <a:t>why alert volume, not any single case, defeats humans</a:t>
            </a:r>
          </a:p>
          <a:p>
            <a:pPr algn="l">
              <a:spcBef>
                <a:spcPts val="0"/>
              </a:spcBef>
              <a:spcAft>
                <a:spcPts val="1000"/>
              </a:spcAft>
            </a:pPr>
            <a:r>
              <a:rPr sz="1450" b="1" i="0" dirty="0">
                <a:solidFill>
                  <a:srgbClr val="13293D"/>
                </a:solidFill>
                <a:latin typeface="Calibri"/>
              </a:rPr>
              <a:t>•  Why agents, not scripts — </a:t>
            </a:r>
            <a:r>
              <a:rPr sz="1450" b="0" i="0" dirty="0">
                <a:solidFill>
                  <a:srgbClr val="1E293B"/>
                </a:solidFill>
                <a:latin typeface="Calibri"/>
              </a:rPr>
              <a:t>the one distinction the whole system rests on</a:t>
            </a:r>
          </a:p>
          <a:p>
            <a:pPr algn="l">
              <a:spcBef>
                <a:spcPts val="0"/>
              </a:spcBef>
              <a:spcAft>
                <a:spcPts val="1000"/>
              </a:spcAft>
            </a:pPr>
            <a:r>
              <a:rPr sz="1450" b="1" i="0" dirty="0">
                <a:solidFill>
                  <a:srgbClr val="13293D"/>
                </a:solidFill>
                <a:latin typeface="Calibri"/>
              </a:rPr>
              <a:t>•  Architecture — </a:t>
            </a:r>
            <a:r>
              <a:rPr sz="1450" b="0" i="0" dirty="0">
                <a:solidFill>
                  <a:srgbClr val="1E293B"/>
                </a:solidFill>
                <a:latin typeface="Calibri"/>
              </a:rPr>
              <a:t>four agents, two capped feedback loops, one quarantine boundary</a:t>
            </a:r>
          </a:p>
          <a:p>
            <a:pPr algn="l">
              <a:spcBef>
                <a:spcPts val="0"/>
              </a:spcBef>
              <a:spcAft>
                <a:spcPts val="1000"/>
              </a:spcAft>
            </a:pPr>
            <a:r>
              <a:rPr sz="1450" b="1" i="0" dirty="0">
                <a:solidFill>
                  <a:srgbClr val="13293D"/>
                </a:solidFill>
                <a:latin typeface="Calibri"/>
              </a:rPr>
              <a:t>•  Under the hood — </a:t>
            </a:r>
            <a:r>
              <a:rPr sz="1450" b="0" i="0" dirty="0">
                <a:solidFill>
                  <a:srgbClr val="1E293B"/>
                </a:solidFill>
                <a:latin typeface="Calibri"/>
              </a:rPr>
              <a:t>the Kill Chain &amp; Report Writer internals, and the tools the agents use</a:t>
            </a:r>
          </a:p>
          <a:p>
            <a:pPr algn="l">
              <a:spcBef>
                <a:spcPts val="0"/>
              </a:spcBef>
              <a:spcAft>
                <a:spcPts val="1000"/>
              </a:spcAft>
            </a:pPr>
            <a:r>
              <a:rPr sz="1450" b="1" i="0" dirty="0">
                <a:solidFill>
                  <a:srgbClr val="13293D"/>
                </a:solidFill>
                <a:latin typeface="Calibri"/>
              </a:rPr>
              <a:t>•  A real run + the environment experiment — </a:t>
            </a:r>
            <a:r>
              <a:rPr sz="1450" b="0" i="0" dirty="0">
                <a:solidFill>
                  <a:srgbClr val="1E293B"/>
                </a:solidFill>
                <a:latin typeface="Calibri"/>
              </a:rPr>
              <a:t>context changes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46304" cy="146304"/>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7955279" cy="415498"/>
          </a:xfrm>
          <a:prstGeom prst="rect">
            <a:avLst/>
          </a:prstGeom>
          <a:noFill/>
        </p:spPr>
        <p:txBody>
          <a:bodyPr wrap="square" lIns="0" tIns="0" rIns="0" bIns="0" anchor="t">
            <a:spAutoFit/>
          </a:bodyPr>
          <a:lstStyle/>
          <a:p>
            <a:pPr algn="l">
              <a:spcBef>
                <a:spcPts val="0"/>
              </a:spcBef>
              <a:spcAft>
                <a:spcPts val="600"/>
              </a:spcAft>
            </a:pPr>
            <a:r>
              <a:rPr lang="en-US" sz="2700" b="1" i="0" dirty="0">
                <a:solidFill>
                  <a:srgbClr val="13293D"/>
                </a:solidFill>
                <a:latin typeface="Calibri"/>
              </a:rPr>
              <a:t>Tool changes based on last weeks info</a:t>
            </a:r>
            <a:endParaRPr sz="2700" b="1" i="0" dirty="0">
              <a:solidFill>
                <a:srgbClr val="13293D"/>
              </a:solidFill>
              <a:latin typeface="Calibri"/>
            </a:endParaRPr>
          </a:p>
        </p:txBody>
      </p:sp>
      <p:sp>
        <p:nvSpPr>
          <p:cNvPr id="4" name="TextBox 3"/>
          <p:cNvSpPr txBox="1"/>
          <p:nvPr/>
        </p:nvSpPr>
        <p:spPr>
          <a:xfrm>
            <a:off x="457200" y="4828032"/>
            <a:ext cx="6858000" cy="228600"/>
          </a:xfrm>
          <a:prstGeom prst="rect">
            <a:avLst/>
          </a:prstGeom>
          <a:noFill/>
        </p:spPr>
        <p:txBody>
          <a:bodyPr wrap="square" lIns="0" tIns="0" rIns="0" bIns="0" anchor="t">
            <a:spAutoFit/>
          </a:bodyPr>
          <a:lstStyle/>
          <a:p>
            <a:pPr algn="l">
              <a:spcBef>
                <a:spcPts val="0"/>
              </a:spcBef>
              <a:spcAft>
                <a:spcPts val="600"/>
              </a:spcAft>
            </a:pPr>
            <a:r>
              <a:rPr sz="900" b="0" i="0">
                <a:solidFill>
                  <a:srgbClr val="64748B"/>
                </a:solidFill>
                <a:latin typeface="Calibri"/>
              </a:rPr>
              <a:t>Week 4–5  ·  AI Agents for Cybersecurity Defense</a:t>
            </a:r>
          </a:p>
        </p:txBody>
      </p:sp>
      <p:sp>
        <p:nvSpPr>
          <p:cNvPr id="5" name="TextBox 4"/>
          <p:cNvSpPr txBox="1"/>
          <p:nvPr/>
        </p:nvSpPr>
        <p:spPr>
          <a:xfrm>
            <a:off x="8321040" y="4828032"/>
            <a:ext cx="365760" cy="228600"/>
          </a:xfrm>
          <a:prstGeom prst="rect">
            <a:avLst/>
          </a:prstGeom>
          <a:noFill/>
        </p:spPr>
        <p:txBody>
          <a:bodyPr wrap="square" lIns="0" tIns="0" rIns="0" bIns="0" anchor="t">
            <a:spAutoFit/>
          </a:bodyPr>
          <a:lstStyle/>
          <a:p>
            <a:pPr algn="r">
              <a:spcBef>
                <a:spcPts val="0"/>
              </a:spcBef>
              <a:spcAft>
                <a:spcPts val="600"/>
              </a:spcAft>
            </a:pPr>
            <a:r>
              <a:rPr sz="900" b="0" i="0">
                <a:solidFill>
                  <a:srgbClr val="64748B"/>
                </a:solidFill>
                <a:latin typeface="Calibri"/>
              </a:rPr>
              <a:t>18</a:t>
            </a:r>
          </a:p>
        </p:txBody>
      </p:sp>
      <p:sp>
        <p:nvSpPr>
          <p:cNvPr id="10" name="Rounded Rectangle 9"/>
          <p:cNvSpPr/>
          <p:nvPr/>
        </p:nvSpPr>
        <p:spPr>
          <a:xfrm>
            <a:off x="713232" y="3429000"/>
            <a:ext cx="7955279" cy="1051560"/>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 y="3511296"/>
            <a:ext cx="7626096" cy="886968"/>
          </a:xfrm>
          <a:prstGeom prst="rect">
            <a:avLst/>
          </a:prstGeom>
          <a:noFill/>
        </p:spPr>
        <p:txBody>
          <a:bodyPr wrap="square" lIns="0" tIns="0" rIns="0" bIns="0" anchor="ctr">
            <a:spAutoFit/>
          </a:bodyPr>
          <a:lstStyle/>
          <a:p>
            <a:pPr algn="l">
              <a:spcBef>
                <a:spcPts val="0"/>
              </a:spcBef>
              <a:spcAft>
                <a:spcPts val="600"/>
              </a:spcAft>
            </a:pPr>
            <a:r>
              <a:rPr sz="1300" b="1" i="0">
                <a:solidFill>
                  <a:srgbClr val="9B2C2C"/>
                </a:solidFill>
                <a:latin typeface="Calibri"/>
              </a:rPr>
              <a:t>Declined   </a:t>
            </a:r>
            <a:r>
              <a:rPr sz="1150" b="0" i="0">
                <a:solidFill>
                  <a:srgbClr val="1E293B"/>
                </a:solidFill>
                <a:latin typeface="Calibri"/>
              </a:rPr>
              <a:t>payload inspection (flow data has no payloads) · Kill Chain re-querying raw findings (that's the Analyst's job) · a tactic→phase tool (that's the sidecar crosswalk — it would collapse the divergence signal).</a:t>
            </a:r>
          </a:p>
        </p:txBody>
      </p:sp>
      <p:sp>
        <p:nvSpPr>
          <p:cNvPr id="12" name="TextBox 11">
            <a:extLst>
              <a:ext uri="{FF2B5EF4-FFF2-40B4-BE49-F238E27FC236}">
                <a16:creationId xmlns:a16="http://schemas.microsoft.com/office/drawing/2014/main" id="{2B5FBBEA-B43C-E607-BF8B-986D965E26B9}"/>
              </a:ext>
            </a:extLst>
          </p:cNvPr>
          <p:cNvSpPr txBox="1"/>
          <p:nvPr/>
        </p:nvSpPr>
        <p:spPr>
          <a:xfrm>
            <a:off x="821838" y="895035"/>
            <a:ext cx="7588556" cy="2292935"/>
          </a:xfrm>
          <a:prstGeom prst="rect">
            <a:avLst/>
          </a:prstGeom>
          <a:noFill/>
        </p:spPr>
        <p:txBody>
          <a:bodyPr wrap="square" rtlCol="0">
            <a:spAutoFit/>
          </a:bodyPr>
          <a:lstStyle/>
          <a:p>
            <a:r>
              <a:rPr lang="en-US" sz="1300" b="1" dirty="0" err="1"/>
              <a:t>host_profile</a:t>
            </a:r>
            <a:r>
              <a:rPr lang="en-US" sz="1300" dirty="0"/>
              <a:t> — one command that tells you everything about a single computer at once: how much it talked, to whom, on which ports, and when. Before, the agent had to make several separate calls to piece that together. </a:t>
            </a:r>
          </a:p>
          <a:p>
            <a:r>
              <a:rPr lang="en-US" sz="1300" b="1" dirty="0" err="1"/>
              <a:t>flag_summary</a:t>
            </a:r>
            <a:r>
              <a:rPr lang="en-US" sz="1300" dirty="0"/>
              <a:t> — counts the connection "flags," which reveals whether connection attempts </a:t>
            </a:r>
            <a:r>
              <a:rPr lang="en-US" sz="1300" i="1" dirty="0"/>
              <a:t>failed</a:t>
            </a:r>
            <a:r>
              <a:rPr lang="en-US" sz="1300" dirty="0"/>
              <a:t> or actually </a:t>
            </a:r>
            <a:r>
              <a:rPr lang="en-US" sz="1300" i="1" dirty="0"/>
              <a:t>succeeded</a:t>
            </a:r>
            <a:r>
              <a:rPr lang="en-US" sz="1300" dirty="0"/>
              <a:t>. That's how it can prove "this was a brute force of failed logins" instead of guessing. </a:t>
            </a:r>
          </a:p>
          <a:p>
            <a:r>
              <a:rPr lang="en-US" sz="1300" b="1" dirty="0" err="1"/>
              <a:t>flows_in_time_range</a:t>
            </a:r>
            <a:r>
              <a:rPr lang="en-US" sz="1300" dirty="0"/>
              <a:t> — grabs all traffic between two times, with the dates handled correctly by code. Before, the agent tried to filter by time with a hand-written text pattern and it silently broke.</a:t>
            </a:r>
          </a:p>
          <a:p>
            <a:r>
              <a:rPr lang="en-US" sz="1300" dirty="0"/>
              <a:t> </a:t>
            </a:r>
            <a:r>
              <a:rPr lang="en-US" sz="1300" b="1" dirty="0" err="1"/>
              <a:t>count_by</a:t>
            </a:r>
            <a:r>
              <a:rPr lang="en-US" sz="1300" b="1" dirty="0"/>
              <a:t> two-column</a:t>
            </a:r>
            <a:r>
              <a:rPr lang="en-US" sz="1300" dirty="0"/>
              <a:t> — lets it group by two things at once (like "which source hit which port") in one call instead of two. </a:t>
            </a:r>
          </a:p>
          <a:p>
            <a:r>
              <a:rPr lang="en-US" sz="1300" b="1" dirty="0" err="1"/>
              <a:t>list_subtechniques</a:t>
            </a:r>
            <a:r>
              <a:rPr lang="en-US" sz="1300" dirty="0"/>
              <a:t> (Threat Intel) — lists all the sub-flavors of a technique at once (e.g. the four kinds of Brute Force) so it can compare them and pick the most specific one without multiple lookups.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46304" cy="146304"/>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7955279" cy="640080"/>
          </a:xfrm>
          <a:prstGeom prst="rect">
            <a:avLst/>
          </a:prstGeom>
          <a:noFill/>
        </p:spPr>
        <p:txBody>
          <a:bodyPr wrap="square" lIns="0" tIns="0" rIns="0" bIns="0" anchor="t">
            <a:spAutoFit/>
          </a:bodyPr>
          <a:lstStyle/>
          <a:p>
            <a:pPr algn="l">
              <a:spcBef>
                <a:spcPts val="0"/>
              </a:spcBef>
              <a:spcAft>
                <a:spcPts val="600"/>
              </a:spcAft>
            </a:pPr>
            <a:r>
              <a:rPr sz="2700" b="1" i="0">
                <a:solidFill>
                  <a:srgbClr val="13293D"/>
                </a:solidFill>
                <a:latin typeface="Calibri"/>
              </a:rPr>
              <a:t>The Problem Is Volume, Not Difficulty</a:t>
            </a:r>
          </a:p>
        </p:txBody>
      </p:sp>
      <p:sp>
        <p:nvSpPr>
          <p:cNvPr id="4" name="TextBox 3"/>
          <p:cNvSpPr txBox="1"/>
          <p:nvPr/>
        </p:nvSpPr>
        <p:spPr>
          <a:xfrm>
            <a:off x="457200" y="4828032"/>
            <a:ext cx="6858000" cy="228600"/>
          </a:xfrm>
          <a:prstGeom prst="rect">
            <a:avLst/>
          </a:prstGeom>
          <a:noFill/>
        </p:spPr>
        <p:txBody>
          <a:bodyPr wrap="square" lIns="0" tIns="0" rIns="0" bIns="0" anchor="t">
            <a:spAutoFit/>
          </a:bodyPr>
          <a:lstStyle/>
          <a:p>
            <a:pPr algn="l">
              <a:spcBef>
                <a:spcPts val="0"/>
              </a:spcBef>
              <a:spcAft>
                <a:spcPts val="600"/>
              </a:spcAft>
            </a:pPr>
            <a:r>
              <a:rPr sz="900" b="0" i="0">
                <a:solidFill>
                  <a:srgbClr val="64748B"/>
                </a:solidFill>
                <a:latin typeface="Calibri"/>
              </a:rPr>
              <a:t>Week 4–5  ·  AI Agents for Cybersecurity Defense</a:t>
            </a:r>
          </a:p>
        </p:txBody>
      </p:sp>
      <p:sp>
        <p:nvSpPr>
          <p:cNvPr id="5" name="TextBox 4"/>
          <p:cNvSpPr txBox="1"/>
          <p:nvPr/>
        </p:nvSpPr>
        <p:spPr>
          <a:xfrm>
            <a:off x="8321040" y="4828032"/>
            <a:ext cx="365760" cy="228600"/>
          </a:xfrm>
          <a:prstGeom prst="rect">
            <a:avLst/>
          </a:prstGeom>
          <a:noFill/>
        </p:spPr>
        <p:txBody>
          <a:bodyPr wrap="square" lIns="0" tIns="0" rIns="0" bIns="0" anchor="t">
            <a:spAutoFit/>
          </a:bodyPr>
          <a:lstStyle/>
          <a:p>
            <a:pPr algn="r">
              <a:spcBef>
                <a:spcPts val="0"/>
              </a:spcBef>
              <a:spcAft>
                <a:spcPts val="600"/>
              </a:spcAft>
            </a:pPr>
            <a:r>
              <a:rPr sz="900" b="0" i="0">
                <a:solidFill>
                  <a:srgbClr val="64748B"/>
                </a:solidFill>
                <a:latin typeface="Calibri"/>
              </a:rPr>
              <a:t>3</a:t>
            </a:r>
          </a:p>
        </p:txBody>
      </p:sp>
      <p:sp>
        <p:nvSpPr>
          <p:cNvPr id="6" name="TextBox 5"/>
          <p:cNvSpPr txBox="1"/>
          <p:nvPr/>
        </p:nvSpPr>
        <p:spPr>
          <a:xfrm>
            <a:off x="713232" y="1143000"/>
            <a:ext cx="7955279" cy="461665"/>
          </a:xfrm>
          <a:prstGeom prst="rect">
            <a:avLst/>
          </a:prstGeom>
          <a:noFill/>
        </p:spPr>
        <p:txBody>
          <a:bodyPr wrap="square" lIns="0" tIns="0" rIns="0" bIns="0" anchor="t">
            <a:spAutoFit/>
          </a:bodyPr>
          <a:lstStyle/>
          <a:p>
            <a:pPr algn="l">
              <a:spcBef>
                <a:spcPts val="0"/>
              </a:spcBef>
              <a:spcAft>
                <a:spcPts val="600"/>
              </a:spcAft>
            </a:pPr>
            <a:r>
              <a:rPr sz="1500" b="0" i="0" dirty="0">
                <a:solidFill>
                  <a:srgbClr val="1E293B"/>
                </a:solidFill>
                <a:latin typeface="Calibri"/>
              </a:rPr>
              <a:t>A tier-1 analyst works a queue that never ends. </a:t>
            </a:r>
            <a:r>
              <a:rPr lang="en-US" sz="1500" b="0" i="0" dirty="0">
                <a:solidFill>
                  <a:srgbClr val="1E293B"/>
                </a:solidFill>
                <a:latin typeface="Calibri"/>
              </a:rPr>
              <a:t>The problem is that real alerts hide amongst thousands of benign alerts</a:t>
            </a:r>
            <a:endParaRPr sz="1500" b="0" i="0" dirty="0">
              <a:solidFill>
                <a:srgbClr val="1E293B"/>
              </a:solidFill>
              <a:latin typeface="Calibri"/>
            </a:endParaRPr>
          </a:p>
        </p:txBody>
      </p:sp>
      <p:sp>
        <p:nvSpPr>
          <p:cNvPr id="7" name="Rounded Rectangle 6"/>
          <p:cNvSpPr/>
          <p:nvPr/>
        </p:nvSpPr>
        <p:spPr>
          <a:xfrm>
            <a:off x="713232" y="2148840"/>
            <a:ext cx="2514600" cy="1554480"/>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2295144"/>
            <a:ext cx="2221992" cy="1261872"/>
          </a:xfrm>
          <a:prstGeom prst="rect">
            <a:avLst/>
          </a:prstGeom>
          <a:noFill/>
        </p:spPr>
        <p:txBody>
          <a:bodyPr wrap="square" lIns="0" tIns="0" rIns="0" bIns="0" anchor="t">
            <a:spAutoFit/>
          </a:bodyPr>
          <a:lstStyle/>
          <a:p>
            <a:pPr algn="l">
              <a:spcBef>
                <a:spcPts val="0"/>
              </a:spcBef>
              <a:spcAft>
                <a:spcPts val="400"/>
              </a:spcAft>
            </a:pPr>
            <a:r>
              <a:rPr sz="3000" b="1" i="0">
                <a:solidFill>
                  <a:srgbClr val="028090"/>
                </a:solidFill>
                <a:latin typeface="Calibri"/>
              </a:rPr>
              <a:t>10,000s</a:t>
            </a:r>
          </a:p>
          <a:p>
            <a:pPr algn="l">
              <a:spcBef>
                <a:spcPts val="0"/>
              </a:spcBef>
              <a:spcAft>
                <a:spcPts val="600"/>
              </a:spcAft>
            </a:pPr>
            <a:r>
              <a:rPr sz="1200" b="0" i="0">
                <a:solidFill>
                  <a:srgbClr val="1E293B"/>
                </a:solidFill>
                <a:latin typeface="Calibri"/>
              </a:rPr>
              <a:t>alerts per day at a mid-size org</a:t>
            </a:r>
          </a:p>
        </p:txBody>
      </p:sp>
      <p:sp>
        <p:nvSpPr>
          <p:cNvPr id="9" name="Rounded Rectangle 8"/>
          <p:cNvSpPr/>
          <p:nvPr/>
        </p:nvSpPr>
        <p:spPr>
          <a:xfrm>
            <a:off x="3410712" y="2148840"/>
            <a:ext cx="2514600" cy="1554480"/>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57016" y="2295144"/>
            <a:ext cx="2221992" cy="1261872"/>
          </a:xfrm>
          <a:prstGeom prst="rect">
            <a:avLst/>
          </a:prstGeom>
          <a:noFill/>
        </p:spPr>
        <p:txBody>
          <a:bodyPr wrap="square" lIns="0" tIns="0" rIns="0" bIns="0" anchor="t">
            <a:spAutoFit/>
          </a:bodyPr>
          <a:lstStyle/>
          <a:p>
            <a:pPr algn="l">
              <a:spcBef>
                <a:spcPts val="0"/>
              </a:spcBef>
              <a:spcAft>
                <a:spcPts val="400"/>
              </a:spcAft>
            </a:pPr>
            <a:r>
              <a:rPr sz="3000" b="1" i="0">
                <a:solidFill>
                  <a:srgbClr val="028090"/>
                </a:solidFill>
                <a:latin typeface="Calibri"/>
              </a:rPr>
              <a:t>~99%</a:t>
            </a:r>
          </a:p>
          <a:p>
            <a:pPr algn="l">
              <a:spcBef>
                <a:spcPts val="0"/>
              </a:spcBef>
              <a:spcAft>
                <a:spcPts val="600"/>
              </a:spcAft>
            </a:pPr>
            <a:r>
              <a:rPr sz="1200" b="0" i="0">
                <a:solidFill>
                  <a:srgbClr val="1E293B"/>
                </a:solidFill>
                <a:latin typeface="Calibri"/>
              </a:rPr>
              <a:t>of them are false alarms</a:t>
            </a:r>
          </a:p>
        </p:txBody>
      </p:sp>
      <p:sp>
        <p:nvSpPr>
          <p:cNvPr id="11" name="Rounded Rectangle 10"/>
          <p:cNvSpPr/>
          <p:nvPr/>
        </p:nvSpPr>
        <p:spPr>
          <a:xfrm>
            <a:off x="6108192" y="2148840"/>
            <a:ext cx="2514600" cy="1554480"/>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54496" y="2295144"/>
            <a:ext cx="2221992" cy="1261872"/>
          </a:xfrm>
          <a:prstGeom prst="rect">
            <a:avLst/>
          </a:prstGeom>
          <a:noFill/>
        </p:spPr>
        <p:txBody>
          <a:bodyPr wrap="square" lIns="0" tIns="0" rIns="0" bIns="0" anchor="t">
            <a:spAutoFit/>
          </a:bodyPr>
          <a:lstStyle/>
          <a:p>
            <a:pPr algn="l">
              <a:spcBef>
                <a:spcPts val="0"/>
              </a:spcBef>
              <a:spcAft>
                <a:spcPts val="400"/>
              </a:spcAft>
            </a:pPr>
            <a:r>
              <a:rPr sz="3000" b="1" i="0">
                <a:solidFill>
                  <a:srgbClr val="9B2C2C"/>
                </a:solidFill>
                <a:latin typeface="Calibri"/>
              </a:rPr>
              <a:t>1 in 10k</a:t>
            </a:r>
          </a:p>
          <a:p>
            <a:pPr algn="l">
              <a:spcBef>
                <a:spcPts val="0"/>
              </a:spcBef>
              <a:spcAft>
                <a:spcPts val="600"/>
              </a:spcAft>
            </a:pPr>
            <a:r>
              <a:rPr sz="1200" b="0" i="0">
                <a:solidFill>
                  <a:srgbClr val="1E293B"/>
                </a:solidFill>
                <a:latin typeface="Calibri"/>
              </a:rPr>
              <a:t>flows is actually malicious</a:t>
            </a:r>
          </a:p>
        </p:txBody>
      </p:sp>
      <p:sp>
        <p:nvSpPr>
          <p:cNvPr id="13" name="TextBox 12"/>
          <p:cNvSpPr txBox="1"/>
          <p:nvPr/>
        </p:nvSpPr>
        <p:spPr>
          <a:xfrm>
            <a:off x="713232" y="3931920"/>
            <a:ext cx="7955279" cy="640080"/>
          </a:xfrm>
          <a:prstGeom prst="rect">
            <a:avLst/>
          </a:prstGeom>
          <a:noFill/>
        </p:spPr>
        <p:txBody>
          <a:bodyPr wrap="square" lIns="0" tIns="0" rIns="0" bIns="0" anchor="t">
            <a:spAutoFit/>
          </a:bodyPr>
          <a:lstStyle/>
          <a:p>
            <a:pPr algn="l">
              <a:spcBef>
                <a:spcPts val="0"/>
              </a:spcBef>
              <a:spcAft>
                <a:spcPts val="600"/>
              </a:spcAft>
            </a:pPr>
            <a:r>
              <a:rPr sz="1400" b="1" i="0">
                <a:solidFill>
                  <a:srgbClr val="13293D"/>
                </a:solidFill>
                <a:latin typeface="Calibri"/>
              </a:rPr>
              <a:t>The base rate is the trap:  </a:t>
            </a:r>
            <a:r>
              <a:rPr sz="1400" b="0" i="0">
                <a:solidFill>
                  <a:srgbClr val="1E293B"/>
                </a:solidFill>
                <a:latin typeface="Calibri"/>
              </a:rPr>
              <a:t>even a 99%-accurate detector buries the analyst in false positives. Accuracy is the wrong goal.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46304" cy="146304"/>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7955279" cy="640080"/>
          </a:xfrm>
          <a:prstGeom prst="rect">
            <a:avLst/>
          </a:prstGeom>
          <a:noFill/>
        </p:spPr>
        <p:txBody>
          <a:bodyPr wrap="square" lIns="0" tIns="0" rIns="0" bIns="0" anchor="t">
            <a:spAutoFit/>
          </a:bodyPr>
          <a:lstStyle/>
          <a:p>
            <a:pPr algn="l">
              <a:spcBef>
                <a:spcPts val="0"/>
              </a:spcBef>
              <a:spcAft>
                <a:spcPts val="600"/>
              </a:spcAft>
            </a:pPr>
            <a:r>
              <a:rPr sz="2700" b="1" i="0">
                <a:solidFill>
                  <a:srgbClr val="13293D"/>
                </a:solidFill>
                <a:latin typeface="Calibri"/>
              </a:rPr>
              <a:t>The Architecture: Four Agents, One Boundary</a:t>
            </a:r>
          </a:p>
        </p:txBody>
      </p:sp>
      <p:sp>
        <p:nvSpPr>
          <p:cNvPr id="4" name="TextBox 3"/>
          <p:cNvSpPr txBox="1"/>
          <p:nvPr/>
        </p:nvSpPr>
        <p:spPr>
          <a:xfrm>
            <a:off x="457200" y="4828032"/>
            <a:ext cx="6858000" cy="228600"/>
          </a:xfrm>
          <a:prstGeom prst="rect">
            <a:avLst/>
          </a:prstGeom>
          <a:noFill/>
        </p:spPr>
        <p:txBody>
          <a:bodyPr wrap="square" lIns="0" tIns="0" rIns="0" bIns="0" anchor="t">
            <a:spAutoFit/>
          </a:bodyPr>
          <a:lstStyle/>
          <a:p>
            <a:pPr algn="l">
              <a:spcBef>
                <a:spcPts val="0"/>
              </a:spcBef>
              <a:spcAft>
                <a:spcPts val="600"/>
              </a:spcAft>
            </a:pPr>
            <a:r>
              <a:rPr sz="900" b="0" i="0">
                <a:solidFill>
                  <a:srgbClr val="64748B"/>
                </a:solidFill>
                <a:latin typeface="Calibri"/>
              </a:rPr>
              <a:t>Week 4–5  ·  AI Agents for Cybersecurity Defense</a:t>
            </a:r>
          </a:p>
        </p:txBody>
      </p:sp>
      <p:sp>
        <p:nvSpPr>
          <p:cNvPr id="5" name="TextBox 4"/>
          <p:cNvSpPr txBox="1"/>
          <p:nvPr/>
        </p:nvSpPr>
        <p:spPr>
          <a:xfrm>
            <a:off x="8321040" y="4828032"/>
            <a:ext cx="365760" cy="228600"/>
          </a:xfrm>
          <a:prstGeom prst="rect">
            <a:avLst/>
          </a:prstGeom>
          <a:noFill/>
        </p:spPr>
        <p:txBody>
          <a:bodyPr wrap="square" lIns="0" tIns="0" rIns="0" bIns="0" anchor="t">
            <a:spAutoFit/>
          </a:bodyPr>
          <a:lstStyle/>
          <a:p>
            <a:pPr algn="r">
              <a:spcBef>
                <a:spcPts val="0"/>
              </a:spcBef>
              <a:spcAft>
                <a:spcPts val="600"/>
              </a:spcAft>
            </a:pPr>
            <a:r>
              <a:rPr sz="900" b="0" i="0">
                <a:solidFill>
                  <a:srgbClr val="64748B"/>
                </a:solidFill>
                <a:latin typeface="Calibri"/>
              </a:rPr>
              <a:t>5</a:t>
            </a:r>
          </a:p>
        </p:txBody>
      </p:sp>
      <p:sp>
        <p:nvSpPr>
          <p:cNvPr id="6" name="Rounded Rectangle 5"/>
          <p:cNvSpPr/>
          <p:nvPr/>
        </p:nvSpPr>
        <p:spPr>
          <a:xfrm>
            <a:off x="548640" y="1234440"/>
            <a:ext cx="1783080" cy="868680"/>
          </a:xfrm>
          <a:prstGeom prst="roundRect">
            <a:avLst/>
          </a:prstGeom>
          <a:solidFill>
            <a:srgbClr val="EEF5F7"/>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3503" y="1325880"/>
            <a:ext cx="1673352" cy="685800"/>
          </a:xfrm>
          <a:prstGeom prst="rect">
            <a:avLst/>
          </a:prstGeom>
          <a:noFill/>
        </p:spPr>
        <p:txBody>
          <a:bodyPr wrap="square" lIns="0" tIns="0" rIns="0" bIns="0" anchor="ctr">
            <a:spAutoFit/>
          </a:bodyPr>
          <a:lstStyle/>
          <a:p>
            <a:pPr algn="ctr">
              <a:spcBef>
                <a:spcPts val="0"/>
              </a:spcBef>
              <a:spcAft>
                <a:spcPts val="200"/>
              </a:spcAft>
            </a:pPr>
            <a:r>
              <a:rPr sz="1250" b="1" i="0">
                <a:solidFill>
                  <a:srgbClr val="13293D"/>
                </a:solidFill>
                <a:latin typeface="Calibri"/>
              </a:rPr>
              <a:t>Network Analyst</a:t>
            </a:r>
          </a:p>
          <a:p>
            <a:pPr algn="ctr">
              <a:spcBef>
                <a:spcPts val="0"/>
              </a:spcBef>
              <a:spcAft>
                <a:spcPts val="600"/>
              </a:spcAft>
            </a:pPr>
            <a:r>
              <a:rPr sz="900" b="0" i="1">
                <a:solidFill>
                  <a:srgbClr val="64748B"/>
                </a:solidFill>
                <a:latin typeface="Calibri"/>
              </a:rPr>
              <a:t>detect + evidence</a:t>
            </a:r>
          </a:p>
        </p:txBody>
      </p:sp>
      <p:sp>
        <p:nvSpPr>
          <p:cNvPr id="8" name="Right Arrow 7"/>
          <p:cNvSpPr/>
          <p:nvPr/>
        </p:nvSpPr>
        <p:spPr>
          <a:xfrm>
            <a:off x="2359152" y="1572768"/>
            <a:ext cx="292608" cy="201168"/>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633472" y="1234440"/>
            <a:ext cx="1783080" cy="868680"/>
          </a:xfrm>
          <a:prstGeom prst="roundRect">
            <a:avLst/>
          </a:prstGeom>
          <a:solidFill>
            <a:srgbClr val="EEF5F7"/>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88336" y="1325880"/>
            <a:ext cx="1673352" cy="685800"/>
          </a:xfrm>
          <a:prstGeom prst="rect">
            <a:avLst/>
          </a:prstGeom>
          <a:noFill/>
        </p:spPr>
        <p:txBody>
          <a:bodyPr wrap="square" lIns="0" tIns="0" rIns="0" bIns="0" anchor="ctr">
            <a:spAutoFit/>
          </a:bodyPr>
          <a:lstStyle/>
          <a:p>
            <a:pPr algn="ctr">
              <a:spcBef>
                <a:spcPts val="0"/>
              </a:spcBef>
              <a:spcAft>
                <a:spcPts val="200"/>
              </a:spcAft>
            </a:pPr>
            <a:r>
              <a:rPr sz="1250" b="1" i="0">
                <a:solidFill>
                  <a:srgbClr val="13293D"/>
                </a:solidFill>
                <a:latin typeface="Calibri"/>
              </a:rPr>
              <a:t>Threat Intelligence</a:t>
            </a:r>
          </a:p>
          <a:p>
            <a:pPr algn="ctr">
              <a:spcBef>
                <a:spcPts val="0"/>
              </a:spcBef>
              <a:spcAft>
                <a:spcPts val="600"/>
              </a:spcAft>
            </a:pPr>
            <a:r>
              <a:rPr sz="900" b="0" i="1">
                <a:solidFill>
                  <a:srgbClr val="64748B"/>
                </a:solidFill>
                <a:latin typeface="Calibri"/>
              </a:rPr>
              <a:t>ATT&amp;CK mapping</a:t>
            </a:r>
          </a:p>
        </p:txBody>
      </p:sp>
      <p:sp>
        <p:nvSpPr>
          <p:cNvPr id="11" name="Right Arrow 10"/>
          <p:cNvSpPr/>
          <p:nvPr/>
        </p:nvSpPr>
        <p:spPr>
          <a:xfrm>
            <a:off x="4443983" y="1572768"/>
            <a:ext cx="292608" cy="201168"/>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718304" y="1234440"/>
            <a:ext cx="1783080" cy="868680"/>
          </a:xfrm>
          <a:prstGeom prst="roundRect">
            <a:avLst/>
          </a:prstGeom>
          <a:solidFill>
            <a:srgbClr val="EEF5F7"/>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73168" y="1325880"/>
            <a:ext cx="1673352" cy="685800"/>
          </a:xfrm>
          <a:prstGeom prst="rect">
            <a:avLst/>
          </a:prstGeom>
          <a:noFill/>
        </p:spPr>
        <p:txBody>
          <a:bodyPr wrap="square" lIns="0" tIns="0" rIns="0" bIns="0" anchor="ctr">
            <a:spAutoFit/>
          </a:bodyPr>
          <a:lstStyle/>
          <a:p>
            <a:pPr algn="ctr">
              <a:spcBef>
                <a:spcPts val="0"/>
              </a:spcBef>
              <a:spcAft>
                <a:spcPts val="200"/>
              </a:spcAft>
            </a:pPr>
            <a:r>
              <a:rPr sz="1250" b="1" i="0">
                <a:solidFill>
                  <a:srgbClr val="13293D"/>
                </a:solidFill>
                <a:latin typeface="Calibri"/>
              </a:rPr>
              <a:t>Kill Chain</a:t>
            </a:r>
          </a:p>
          <a:p>
            <a:pPr algn="ctr">
              <a:spcBef>
                <a:spcPts val="0"/>
              </a:spcBef>
              <a:spcAft>
                <a:spcPts val="600"/>
              </a:spcAft>
            </a:pPr>
            <a:r>
              <a:rPr sz="900" b="0" i="1">
                <a:solidFill>
                  <a:srgbClr val="64748B"/>
                </a:solidFill>
                <a:latin typeface="Calibri"/>
              </a:rPr>
              <a:t>phase narrative</a:t>
            </a:r>
          </a:p>
        </p:txBody>
      </p:sp>
      <p:sp>
        <p:nvSpPr>
          <p:cNvPr id="14" name="Right Arrow 13"/>
          <p:cNvSpPr/>
          <p:nvPr/>
        </p:nvSpPr>
        <p:spPr>
          <a:xfrm>
            <a:off x="6528816" y="1572768"/>
            <a:ext cx="292608" cy="201168"/>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803136" y="1234440"/>
            <a:ext cx="1783080" cy="868680"/>
          </a:xfrm>
          <a:prstGeom prst="roundRect">
            <a:avLst/>
          </a:prstGeom>
          <a:solidFill>
            <a:srgbClr val="EEF5F7"/>
          </a:solidFill>
          <a:ln w="1270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7999" y="1325880"/>
            <a:ext cx="1673352" cy="685800"/>
          </a:xfrm>
          <a:prstGeom prst="rect">
            <a:avLst/>
          </a:prstGeom>
          <a:noFill/>
        </p:spPr>
        <p:txBody>
          <a:bodyPr wrap="square" lIns="0" tIns="0" rIns="0" bIns="0" anchor="ctr">
            <a:spAutoFit/>
          </a:bodyPr>
          <a:lstStyle/>
          <a:p>
            <a:pPr algn="ctr">
              <a:spcBef>
                <a:spcPts val="0"/>
              </a:spcBef>
              <a:spcAft>
                <a:spcPts val="200"/>
              </a:spcAft>
            </a:pPr>
            <a:r>
              <a:rPr sz="1250" b="1" i="0">
                <a:solidFill>
                  <a:srgbClr val="13293D"/>
                </a:solidFill>
                <a:latin typeface="Calibri"/>
              </a:rPr>
              <a:t>Report Writer</a:t>
            </a:r>
          </a:p>
          <a:p>
            <a:pPr algn="ctr">
              <a:spcBef>
                <a:spcPts val="0"/>
              </a:spcBef>
              <a:spcAft>
                <a:spcPts val="600"/>
              </a:spcAft>
            </a:pPr>
            <a:r>
              <a:rPr sz="900" b="0" i="1">
                <a:solidFill>
                  <a:srgbClr val="64748B"/>
                </a:solidFill>
                <a:latin typeface="Calibri"/>
              </a:rPr>
              <a:t>synthesis</a:t>
            </a:r>
          </a:p>
        </p:txBody>
      </p:sp>
      <p:sp>
        <p:nvSpPr>
          <p:cNvPr id="17" name="TextBox 16"/>
          <p:cNvSpPr txBox="1"/>
          <p:nvPr/>
        </p:nvSpPr>
        <p:spPr>
          <a:xfrm>
            <a:off x="548640" y="2212848"/>
            <a:ext cx="3840480" cy="274320"/>
          </a:xfrm>
          <a:prstGeom prst="rect">
            <a:avLst/>
          </a:prstGeom>
          <a:noFill/>
        </p:spPr>
        <p:txBody>
          <a:bodyPr wrap="square" lIns="0" tIns="0" rIns="0" bIns="0" anchor="t">
            <a:spAutoFit/>
          </a:bodyPr>
          <a:lstStyle/>
          <a:p>
            <a:pPr algn="l">
              <a:spcBef>
                <a:spcPts val="0"/>
              </a:spcBef>
              <a:spcAft>
                <a:spcPts val="600"/>
              </a:spcAft>
            </a:pPr>
            <a:r>
              <a:rPr sz="1000" b="0" i="1">
                <a:solidFill>
                  <a:srgbClr val="64748B"/>
                </a:solidFill>
                <a:latin typeface="Calibri"/>
              </a:rPr>
              <a:t>⟲ evidence request (≤1 retry)</a:t>
            </a:r>
          </a:p>
        </p:txBody>
      </p:sp>
      <p:sp>
        <p:nvSpPr>
          <p:cNvPr id="18" name="TextBox 17"/>
          <p:cNvSpPr txBox="1"/>
          <p:nvPr/>
        </p:nvSpPr>
        <p:spPr>
          <a:xfrm>
            <a:off x="2651760" y="2212848"/>
            <a:ext cx="4114800" cy="274320"/>
          </a:xfrm>
          <a:prstGeom prst="rect">
            <a:avLst/>
          </a:prstGeom>
          <a:noFill/>
        </p:spPr>
        <p:txBody>
          <a:bodyPr wrap="square" lIns="0" tIns="0" rIns="0" bIns="0" anchor="t">
            <a:spAutoFit/>
          </a:bodyPr>
          <a:lstStyle/>
          <a:p>
            <a:pPr algn="l">
              <a:spcBef>
                <a:spcPts val="0"/>
              </a:spcBef>
              <a:spcAft>
                <a:spcPts val="600"/>
              </a:spcAft>
            </a:pPr>
            <a:r>
              <a:rPr sz="1000" b="0" i="1">
                <a:solidFill>
                  <a:srgbClr val="64748B"/>
                </a:solidFill>
                <a:latin typeface="Calibri"/>
              </a:rPr>
              <a:t>⟲ mapping request (≤1 retry)</a:t>
            </a:r>
          </a:p>
        </p:txBody>
      </p:sp>
      <p:sp>
        <p:nvSpPr>
          <p:cNvPr id="19" name="Rectangle 18"/>
          <p:cNvSpPr/>
          <p:nvPr/>
        </p:nvSpPr>
        <p:spPr>
          <a:xfrm>
            <a:off x="548640" y="2788920"/>
            <a:ext cx="8046720" cy="18288"/>
          </a:xfrm>
          <a:prstGeom prst="rect">
            <a:avLst/>
          </a:prstGeom>
          <a:solidFill>
            <a:srgbClr val="9B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2834640"/>
            <a:ext cx="8046720" cy="274320"/>
          </a:xfrm>
          <a:prstGeom prst="rect">
            <a:avLst/>
          </a:prstGeom>
          <a:noFill/>
        </p:spPr>
        <p:txBody>
          <a:bodyPr wrap="square" lIns="0" tIns="0" rIns="0" bIns="0" anchor="t">
            <a:spAutoFit/>
          </a:bodyPr>
          <a:lstStyle/>
          <a:p>
            <a:pPr algn="l">
              <a:spcBef>
                <a:spcPts val="0"/>
              </a:spcBef>
              <a:spcAft>
                <a:spcPts val="600"/>
              </a:spcAft>
            </a:pPr>
            <a:r>
              <a:rPr sz="1100" b="1" i="0">
                <a:solidFill>
                  <a:srgbClr val="9B2C2C"/>
                </a:solidFill>
                <a:latin typeface="Calibri"/>
              </a:rPr>
              <a:t>— — —  GROUND-TRUTH QUARANTINE  </a:t>
            </a:r>
            <a:r>
              <a:rPr sz="1100" b="0" i="1">
                <a:solidFill>
                  <a:srgbClr val="64748B"/>
                </a:solidFill>
                <a:latin typeface="Calibri"/>
              </a:rPr>
              <a:t>(labels live only below this line; agents above never see them)</a:t>
            </a:r>
          </a:p>
        </p:txBody>
      </p:sp>
      <p:sp>
        <p:nvSpPr>
          <p:cNvPr id="21" name="Rounded Rectangle 20"/>
          <p:cNvSpPr/>
          <p:nvPr/>
        </p:nvSpPr>
        <p:spPr>
          <a:xfrm>
            <a:off x="2615184" y="3323844"/>
            <a:ext cx="3886200" cy="1234440"/>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61488" y="3470148"/>
            <a:ext cx="3593592" cy="882293"/>
          </a:xfrm>
          <a:prstGeom prst="rect">
            <a:avLst/>
          </a:prstGeom>
          <a:noFill/>
        </p:spPr>
        <p:txBody>
          <a:bodyPr wrap="square" lIns="0" tIns="0" rIns="0" bIns="0" anchor="t">
            <a:spAutoFit/>
          </a:bodyPr>
          <a:lstStyle/>
          <a:p>
            <a:pPr algn="l">
              <a:spcBef>
                <a:spcPts val="0"/>
              </a:spcBef>
              <a:spcAft>
                <a:spcPts val="400"/>
              </a:spcAft>
            </a:pPr>
            <a:r>
              <a:rPr sz="3000" b="1" i="0" dirty="0">
                <a:solidFill>
                  <a:srgbClr val="9B2C2C"/>
                </a:solidFill>
                <a:latin typeface="Calibri"/>
              </a:rPr>
              <a:t>Sidecar</a:t>
            </a:r>
          </a:p>
          <a:p>
            <a:pPr algn="l">
              <a:spcBef>
                <a:spcPts val="0"/>
              </a:spcBef>
              <a:spcAft>
                <a:spcPts val="600"/>
              </a:spcAft>
            </a:pPr>
            <a:r>
              <a:rPr sz="1200" b="0" i="0" dirty="0">
                <a:solidFill>
                  <a:srgbClr val="1E293B"/>
                </a:solidFill>
                <a:latin typeface="Calibri"/>
              </a:rPr>
              <a:t>Scores runs against the Label column, ATT&amp;CK answer key, and phase crosswalk</a:t>
            </a:r>
            <a:r>
              <a:rPr lang="en-US" sz="1200" b="0" i="0" dirty="0">
                <a:solidFill>
                  <a:srgbClr val="1E293B"/>
                </a:solidFill>
                <a:latin typeface="Calibri"/>
              </a:rPr>
              <a:t>.</a:t>
            </a:r>
            <a:r>
              <a:rPr sz="1200" b="0" i="0" dirty="0">
                <a:solidFill>
                  <a:srgbClr val="1E293B"/>
                </a:solidFill>
                <a:latin typeface="Calibri"/>
              </a:rPr>
              <a:t> after the agents finish.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77CBDF-4F74-F239-E20E-68EA5F238D51}"/>
              </a:ext>
            </a:extLst>
          </p:cNvPr>
          <p:cNvPicPr>
            <a:picLocks noChangeAspect="1"/>
          </p:cNvPicPr>
          <p:nvPr/>
        </p:nvPicPr>
        <p:blipFill>
          <a:blip r:embed="rId2"/>
          <a:stretch>
            <a:fillRect/>
          </a:stretch>
        </p:blipFill>
        <p:spPr>
          <a:xfrm>
            <a:off x="2643173" y="76182"/>
            <a:ext cx="3857653" cy="4991136"/>
          </a:xfrm>
          <a:prstGeom prst="rect">
            <a:avLst/>
          </a:prstGeom>
        </p:spPr>
      </p:pic>
    </p:spTree>
    <p:extLst>
      <p:ext uri="{BB962C8B-B14F-4D97-AF65-F5344CB8AC3E}">
        <p14:creationId xmlns:p14="http://schemas.microsoft.com/office/powerpoint/2010/main" val="115196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46304" cy="146304"/>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7955279" cy="415498"/>
          </a:xfrm>
          <a:prstGeom prst="rect">
            <a:avLst/>
          </a:prstGeom>
          <a:noFill/>
        </p:spPr>
        <p:txBody>
          <a:bodyPr wrap="square" lIns="0" tIns="0" rIns="0" bIns="0" anchor="t">
            <a:spAutoFit/>
          </a:bodyPr>
          <a:lstStyle/>
          <a:p>
            <a:pPr algn="l">
              <a:spcBef>
                <a:spcPts val="0"/>
              </a:spcBef>
              <a:spcAft>
                <a:spcPts val="600"/>
              </a:spcAft>
            </a:pPr>
            <a:r>
              <a:rPr lang="en-US" sz="2700" b="1" i="0" dirty="0">
                <a:solidFill>
                  <a:srgbClr val="13293D"/>
                </a:solidFill>
                <a:latin typeface="Calibri"/>
              </a:rPr>
              <a:t>Tools for the </a:t>
            </a:r>
            <a:r>
              <a:rPr sz="2700" b="1" i="0" dirty="0">
                <a:solidFill>
                  <a:srgbClr val="13293D"/>
                </a:solidFill>
                <a:latin typeface="Calibri"/>
              </a:rPr>
              <a:t>Kill Chain Agent</a:t>
            </a:r>
          </a:p>
        </p:txBody>
      </p:sp>
      <p:sp>
        <p:nvSpPr>
          <p:cNvPr id="4" name="TextBox 3"/>
          <p:cNvSpPr txBox="1"/>
          <p:nvPr/>
        </p:nvSpPr>
        <p:spPr>
          <a:xfrm>
            <a:off x="457200" y="4828032"/>
            <a:ext cx="6858000" cy="228600"/>
          </a:xfrm>
          <a:prstGeom prst="rect">
            <a:avLst/>
          </a:prstGeom>
          <a:noFill/>
        </p:spPr>
        <p:txBody>
          <a:bodyPr wrap="square" lIns="0" tIns="0" rIns="0" bIns="0" anchor="t">
            <a:spAutoFit/>
          </a:bodyPr>
          <a:lstStyle/>
          <a:p>
            <a:pPr algn="l">
              <a:spcBef>
                <a:spcPts val="0"/>
              </a:spcBef>
              <a:spcAft>
                <a:spcPts val="600"/>
              </a:spcAft>
            </a:pPr>
            <a:r>
              <a:rPr sz="900" b="0" i="0">
                <a:solidFill>
                  <a:srgbClr val="64748B"/>
                </a:solidFill>
                <a:latin typeface="Calibri"/>
              </a:rPr>
              <a:t>Week 4–5  ·  AI Agents for Cybersecurity Defense</a:t>
            </a:r>
          </a:p>
        </p:txBody>
      </p:sp>
      <p:sp>
        <p:nvSpPr>
          <p:cNvPr id="5" name="TextBox 4"/>
          <p:cNvSpPr txBox="1"/>
          <p:nvPr/>
        </p:nvSpPr>
        <p:spPr>
          <a:xfrm>
            <a:off x="8321040" y="4828032"/>
            <a:ext cx="365760" cy="228600"/>
          </a:xfrm>
          <a:prstGeom prst="rect">
            <a:avLst/>
          </a:prstGeom>
          <a:noFill/>
        </p:spPr>
        <p:txBody>
          <a:bodyPr wrap="square" lIns="0" tIns="0" rIns="0" bIns="0" anchor="t">
            <a:spAutoFit/>
          </a:bodyPr>
          <a:lstStyle/>
          <a:p>
            <a:pPr algn="r">
              <a:spcBef>
                <a:spcPts val="0"/>
              </a:spcBef>
              <a:spcAft>
                <a:spcPts val="600"/>
              </a:spcAft>
            </a:pPr>
            <a:r>
              <a:rPr sz="900" b="0" i="0">
                <a:solidFill>
                  <a:srgbClr val="64748B"/>
                </a:solidFill>
                <a:latin typeface="Calibri"/>
              </a:rPr>
              <a:t>8</a:t>
            </a:r>
          </a:p>
        </p:txBody>
      </p:sp>
      <p:sp>
        <p:nvSpPr>
          <p:cNvPr id="7" name="Rounded Rectangle 6"/>
          <p:cNvSpPr/>
          <p:nvPr/>
        </p:nvSpPr>
        <p:spPr>
          <a:xfrm>
            <a:off x="713232" y="1874519"/>
            <a:ext cx="3886200" cy="987552"/>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993391"/>
            <a:ext cx="3593592" cy="607859"/>
          </a:xfrm>
          <a:prstGeom prst="rect">
            <a:avLst/>
          </a:prstGeom>
          <a:noFill/>
        </p:spPr>
        <p:txBody>
          <a:bodyPr wrap="square" lIns="0" tIns="0" rIns="0" bIns="0" anchor="t">
            <a:spAutoFit/>
          </a:bodyPr>
          <a:lstStyle/>
          <a:p>
            <a:pPr algn="l">
              <a:spcBef>
                <a:spcPts val="0"/>
              </a:spcBef>
              <a:spcAft>
                <a:spcPts val="300"/>
              </a:spcAft>
            </a:pPr>
            <a:r>
              <a:rPr sz="1400" b="1" i="0" dirty="0" err="1">
                <a:solidFill>
                  <a:srgbClr val="028090"/>
                </a:solidFill>
                <a:latin typeface="Calibri"/>
              </a:rPr>
              <a:t>get_finding_detail</a:t>
            </a:r>
            <a:endParaRPr sz="1400" b="1" i="0" dirty="0">
              <a:solidFill>
                <a:srgbClr val="028090"/>
              </a:solidFill>
              <a:latin typeface="Calibri"/>
            </a:endParaRPr>
          </a:p>
          <a:p>
            <a:pPr algn="l">
              <a:spcBef>
                <a:spcPts val="0"/>
              </a:spcBef>
              <a:spcAft>
                <a:spcPts val="600"/>
              </a:spcAft>
            </a:pPr>
            <a:r>
              <a:rPr sz="1150" b="0" i="0" dirty="0">
                <a:solidFill>
                  <a:srgbClr val="1E293B"/>
                </a:solidFill>
                <a:latin typeface="Calibri"/>
              </a:rPr>
              <a:t>The Network Analyst finding</a:t>
            </a:r>
            <a:r>
              <a:rPr lang="en-US" sz="1150" b="0" i="0" dirty="0">
                <a:solidFill>
                  <a:srgbClr val="1E293B"/>
                </a:solidFill>
                <a:latin typeface="Calibri"/>
              </a:rPr>
              <a:t>,</a:t>
            </a:r>
            <a:r>
              <a:rPr sz="1150" b="0" i="0" dirty="0">
                <a:solidFill>
                  <a:srgbClr val="1E293B"/>
                </a:solidFill>
                <a:latin typeface="Calibri"/>
              </a:rPr>
              <a:t> </a:t>
            </a:r>
            <a:r>
              <a:rPr sz="1150" b="0" i="0" dirty="0" err="1">
                <a:solidFill>
                  <a:srgbClr val="1E293B"/>
                </a:solidFill>
                <a:latin typeface="Calibri"/>
              </a:rPr>
              <a:t>unlabelled</a:t>
            </a:r>
            <a:r>
              <a:rPr sz="1150" b="0" i="0" dirty="0">
                <a:solidFill>
                  <a:srgbClr val="1E293B"/>
                </a:solidFill>
                <a:latin typeface="Calibri"/>
              </a:rPr>
              <a:t>, with raw timestamps withheld.</a:t>
            </a:r>
          </a:p>
        </p:txBody>
      </p:sp>
      <p:sp>
        <p:nvSpPr>
          <p:cNvPr id="9" name="Rounded Rectangle 8"/>
          <p:cNvSpPr/>
          <p:nvPr/>
        </p:nvSpPr>
        <p:spPr>
          <a:xfrm>
            <a:off x="4709160" y="1874519"/>
            <a:ext cx="3886200" cy="987552"/>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55464" y="1993391"/>
            <a:ext cx="3593592" cy="749808"/>
          </a:xfrm>
          <a:prstGeom prst="rect">
            <a:avLst/>
          </a:prstGeom>
          <a:noFill/>
        </p:spPr>
        <p:txBody>
          <a:bodyPr wrap="square" lIns="0" tIns="0" rIns="0" bIns="0" anchor="t">
            <a:spAutoFit/>
          </a:bodyPr>
          <a:lstStyle/>
          <a:p>
            <a:pPr algn="l">
              <a:spcBef>
                <a:spcPts val="0"/>
              </a:spcBef>
              <a:spcAft>
                <a:spcPts val="300"/>
              </a:spcAft>
            </a:pPr>
            <a:r>
              <a:rPr sz="1400" b="1" i="0">
                <a:solidFill>
                  <a:srgbClr val="028090"/>
                </a:solidFill>
                <a:latin typeface="Calibri"/>
              </a:rPr>
              <a:t>get_technique_context</a:t>
            </a:r>
          </a:p>
          <a:p>
            <a:pPr algn="l">
              <a:spcBef>
                <a:spcPts val="0"/>
              </a:spcBef>
              <a:spcAft>
                <a:spcPts val="600"/>
              </a:spcAft>
            </a:pPr>
            <a:r>
              <a:rPr sz="1150" b="0" i="0">
                <a:solidFill>
                  <a:srgbClr val="1E293B"/>
                </a:solidFill>
                <a:latin typeface="Calibri"/>
              </a:rPr>
              <a:t>Name, tactic(s), and description for a technique, from the local STIX data.</a:t>
            </a:r>
          </a:p>
        </p:txBody>
      </p:sp>
      <p:sp>
        <p:nvSpPr>
          <p:cNvPr id="11" name="Rounded Rectangle 10"/>
          <p:cNvSpPr/>
          <p:nvPr/>
        </p:nvSpPr>
        <p:spPr>
          <a:xfrm>
            <a:off x="713232" y="2971800"/>
            <a:ext cx="3886200" cy="987552"/>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3090672"/>
            <a:ext cx="3593592" cy="607859"/>
          </a:xfrm>
          <a:prstGeom prst="rect">
            <a:avLst/>
          </a:prstGeom>
          <a:noFill/>
        </p:spPr>
        <p:txBody>
          <a:bodyPr wrap="square" lIns="0" tIns="0" rIns="0" bIns="0" anchor="t">
            <a:spAutoFit/>
          </a:bodyPr>
          <a:lstStyle/>
          <a:p>
            <a:pPr algn="l">
              <a:spcBef>
                <a:spcPts val="0"/>
              </a:spcBef>
              <a:spcAft>
                <a:spcPts val="300"/>
              </a:spcAft>
            </a:pPr>
            <a:r>
              <a:rPr sz="1400" b="1" i="0" dirty="0" err="1">
                <a:solidFill>
                  <a:srgbClr val="028090"/>
                </a:solidFill>
                <a:latin typeface="Calibri"/>
              </a:rPr>
              <a:t>get_temporal_ordering</a:t>
            </a:r>
            <a:endParaRPr sz="1400" b="1" i="0" dirty="0">
              <a:solidFill>
                <a:srgbClr val="028090"/>
              </a:solidFill>
              <a:latin typeface="Calibri"/>
            </a:endParaRPr>
          </a:p>
          <a:p>
            <a:pPr algn="l">
              <a:spcBef>
                <a:spcPts val="0"/>
              </a:spcBef>
              <a:spcAft>
                <a:spcPts val="600"/>
              </a:spcAft>
            </a:pPr>
            <a:r>
              <a:rPr lang="en-US" sz="1150" b="0" i="0" dirty="0">
                <a:solidFill>
                  <a:srgbClr val="1E293B"/>
                </a:solidFill>
                <a:latin typeface="Calibri"/>
              </a:rPr>
              <a:t>Code</a:t>
            </a:r>
            <a:r>
              <a:rPr sz="1150" b="0" i="0" dirty="0">
                <a:solidFill>
                  <a:srgbClr val="1E293B"/>
                </a:solidFill>
                <a:latin typeface="Calibri"/>
              </a:rPr>
              <a:t> computes first-seen order + gaps</a:t>
            </a:r>
            <a:r>
              <a:rPr lang="en-US" sz="1150" b="0" i="0" dirty="0">
                <a:solidFill>
                  <a:srgbClr val="1E293B"/>
                </a:solidFill>
                <a:latin typeface="Calibri"/>
              </a:rPr>
              <a:t>. T</a:t>
            </a:r>
            <a:r>
              <a:rPr sz="1150" b="0" i="0" dirty="0">
                <a:solidFill>
                  <a:srgbClr val="1E293B"/>
                </a:solidFill>
                <a:latin typeface="Calibri"/>
              </a:rPr>
              <a:t>he model never orders timestamps itself.</a:t>
            </a:r>
          </a:p>
        </p:txBody>
      </p:sp>
      <p:sp>
        <p:nvSpPr>
          <p:cNvPr id="13" name="Rounded Rectangle 12"/>
          <p:cNvSpPr/>
          <p:nvPr/>
        </p:nvSpPr>
        <p:spPr>
          <a:xfrm>
            <a:off x="4709160" y="2971800"/>
            <a:ext cx="3886200" cy="987552"/>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55464" y="3090672"/>
            <a:ext cx="3593592" cy="749808"/>
          </a:xfrm>
          <a:prstGeom prst="rect">
            <a:avLst/>
          </a:prstGeom>
          <a:noFill/>
        </p:spPr>
        <p:txBody>
          <a:bodyPr wrap="square" lIns="0" tIns="0" rIns="0" bIns="0" anchor="t">
            <a:spAutoFit/>
          </a:bodyPr>
          <a:lstStyle/>
          <a:p>
            <a:pPr algn="l">
              <a:spcBef>
                <a:spcPts val="0"/>
              </a:spcBef>
              <a:spcAft>
                <a:spcPts val="300"/>
              </a:spcAft>
            </a:pPr>
            <a:r>
              <a:rPr sz="1400" b="1" i="0">
                <a:solidFill>
                  <a:srgbClr val="028090"/>
                </a:solidFill>
                <a:latin typeface="Calibri"/>
              </a:rPr>
              <a:t>list_phase_definitions</a:t>
            </a:r>
          </a:p>
          <a:p>
            <a:pPr algn="l">
              <a:spcBef>
                <a:spcPts val="0"/>
              </a:spcBef>
              <a:spcAft>
                <a:spcPts val="600"/>
              </a:spcAft>
            </a:pPr>
            <a:r>
              <a:rPr sz="1150" b="0" i="0">
                <a:solidFill>
                  <a:srgbClr val="1E293B"/>
                </a:solidFill>
                <a:latin typeface="Calibri"/>
              </a:rPr>
              <a:t>The six fixed phases, so it reasons against a stated rubric, not its priors.</a:t>
            </a:r>
          </a:p>
        </p:txBody>
      </p:sp>
      <p:sp>
        <p:nvSpPr>
          <p:cNvPr id="17" name="TextBox 16">
            <a:extLst>
              <a:ext uri="{FF2B5EF4-FFF2-40B4-BE49-F238E27FC236}">
                <a16:creationId xmlns:a16="http://schemas.microsoft.com/office/drawing/2014/main" id="{6D688181-2CD8-0B7B-C8AA-D031DF9472A5}"/>
              </a:ext>
            </a:extLst>
          </p:cNvPr>
          <p:cNvSpPr txBox="1"/>
          <p:nvPr/>
        </p:nvSpPr>
        <p:spPr>
          <a:xfrm>
            <a:off x="645052" y="924989"/>
            <a:ext cx="8262327" cy="646331"/>
          </a:xfrm>
          <a:prstGeom prst="rect">
            <a:avLst/>
          </a:prstGeom>
          <a:noFill/>
        </p:spPr>
        <p:txBody>
          <a:bodyPr wrap="square">
            <a:spAutoFit/>
          </a:bodyPr>
          <a:lstStyle/>
          <a:p>
            <a:r>
              <a:rPr lang="en-US" dirty="0"/>
              <a:t>Reconnaissance → Delivery → Exploitation → Installation → Command &amp; Control → Actions on Objectives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46304" cy="146304"/>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7955279" cy="415498"/>
          </a:xfrm>
          <a:prstGeom prst="rect">
            <a:avLst/>
          </a:prstGeom>
          <a:noFill/>
        </p:spPr>
        <p:txBody>
          <a:bodyPr wrap="square" lIns="0" tIns="0" rIns="0" bIns="0" anchor="t">
            <a:spAutoFit/>
          </a:bodyPr>
          <a:lstStyle/>
          <a:p>
            <a:pPr algn="l">
              <a:spcBef>
                <a:spcPts val="0"/>
              </a:spcBef>
              <a:spcAft>
                <a:spcPts val="600"/>
              </a:spcAft>
            </a:pPr>
            <a:r>
              <a:rPr lang="en-US" sz="2700" b="1" i="0" dirty="0">
                <a:solidFill>
                  <a:srgbClr val="13293D"/>
                </a:solidFill>
                <a:latin typeface="Calibri"/>
              </a:rPr>
              <a:t>How the Code Calculates Each </a:t>
            </a:r>
            <a:r>
              <a:rPr lang="en-US" sz="2700" b="1" dirty="0">
                <a:solidFill>
                  <a:srgbClr val="13293D"/>
                </a:solidFill>
                <a:latin typeface="Calibri"/>
              </a:rPr>
              <a:t>S</a:t>
            </a:r>
            <a:r>
              <a:rPr lang="en-US" sz="2700" b="1" i="0" dirty="0">
                <a:solidFill>
                  <a:srgbClr val="13293D"/>
                </a:solidFill>
                <a:latin typeface="Calibri"/>
              </a:rPr>
              <a:t>tep </a:t>
            </a:r>
            <a:endParaRPr sz="2700" b="1" i="0" dirty="0">
              <a:solidFill>
                <a:srgbClr val="13293D"/>
              </a:solidFill>
              <a:latin typeface="Calibri"/>
            </a:endParaRPr>
          </a:p>
        </p:txBody>
      </p:sp>
      <p:sp>
        <p:nvSpPr>
          <p:cNvPr id="4" name="TextBox 3"/>
          <p:cNvSpPr txBox="1"/>
          <p:nvPr/>
        </p:nvSpPr>
        <p:spPr>
          <a:xfrm>
            <a:off x="457200" y="4828032"/>
            <a:ext cx="6858000" cy="228600"/>
          </a:xfrm>
          <a:prstGeom prst="rect">
            <a:avLst/>
          </a:prstGeom>
          <a:noFill/>
        </p:spPr>
        <p:txBody>
          <a:bodyPr wrap="square" lIns="0" tIns="0" rIns="0" bIns="0" anchor="t">
            <a:spAutoFit/>
          </a:bodyPr>
          <a:lstStyle/>
          <a:p>
            <a:pPr algn="l">
              <a:spcBef>
                <a:spcPts val="0"/>
              </a:spcBef>
              <a:spcAft>
                <a:spcPts val="600"/>
              </a:spcAft>
            </a:pPr>
            <a:r>
              <a:rPr sz="900" b="0" i="0">
                <a:solidFill>
                  <a:srgbClr val="64748B"/>
                </a:solidFill>
                <a:latin typeface="Calibri"/>
              </a:rPr>
              <a:t>Week 4–5  ·  AI Agents for Cybersecurity Defense</a:t>
            </a:r>
          </a:p>
        </p:txBody>
      </p:sp>
      <p:sp>
        <p:nvSpPr>
          <p:cNvPr id="5" name="TextBox 4"/>
          <p:cNvSpPr txBox="1"/>
          <p:nvPr/>
        </p:nvSpPr>
        <p:spPr>
          <a:xfrm>
            <a:off x="8321040" y="4828032"/>
            <a:ext cx="365760" cy="228600"/>
          </a:xfrm>
          <a:prstGeom prst="rect">
            <a:avLst/>
          </a:prstGeom>
          <a:noFill/>
        </p:spPr>
        <p:txBody>
          <a:bodyPr wrap="square" lIns="0" tIns="0" rIns="0" bIns="0" anchor="t">
            <a:spAutoFit/>
          </a:bodyPr>
          <a:lstStyle/>
          <a:p>
            <a:pPr algn="r">
              <a:spcBef>
                <a:spcPts val="0"/>
              </a:spcBef>
              <a:spcAft>
                <a:spcPts val="600"/>
              </a:spcAft>
            </a:pPr>
            <a:r>
              <a:rPr sz="900" b="0" i="0">
                <a:solidFill>
                  <a:srgbClr val="64748B"/>
                </a:solidFill>
                <a:latin typeface="Calibri"/>
              </a:rPr>
              <a:t>9</a:t>
            </a:r>
          </a:p>
        </p:txBody>
      </p:sp>
      <p:sp>
        <p:nvSpPr>
          <p:cNvPr id="6" name="TextBox 5"/>
          <p:cNvSpPr txBox="1"/>
          <p:nvPr/>
        </p:nvSpPr>
        <p:spPr>
          <a:xfrm>
            <a:off x="713232" y="1097280"/>
            <a:ext cx="7955279" cy="457200"/>
          </a:xfrm>
          <a:prstGeom prst="rect">
            <a:avLst/>
          </a:prstGeom>
          <a:noFill/>
        </p:spPr>
        <p:txBody>
          <a:bodyPr wrap="square" lIns="0" tIns="0" rIns="0" bIns="0" anchor="t">
            <a:spAutoFit/>
          </a:bodyPr>
          <a:lstStyle/>
          <a:p>
            <a:pPr algn="l">
              <a:spcBef>
                <a:spcPts val="0"/>
              </a:spcBef>
              <a:spcAft>
                <a:spcPts val="600"/>
              </a:spcAft>
            </a:pPr>
            <a:r>
              <a:rPr sz="1450" b="0" i="0">
                <a:solidFill>
                  <a:srgbClr val="1E293B"/>
                </a:solidFill>
                <a:latin typeface="Calibri"/>
              </a:rPr>
              <a:t>The model proposes phases; independently, code derives the EXPECTED set and compares.</a:t>
            </a:r>
          </a:p>
        </p:txBody>
      </p:sp>
      <p:sp>
        <p:nvSpPr>
          <p:cNvPr id="7" name="Rounded Rectangle 6"/>
          <p:cNvSpPr/>
          <p:nvPr/>
        </p:nvSpPr>
        <p:spPr>
          <a:xfrm>
            <a:off x="713232" y="1783080"/>
            <a:ext cx="1554480" cy="566928"/>
          </a:xfrm>
          <a:prstGeom prst="roundRect">
            <a:avLst/>
          </a:prstGeom>
          <a:solidFill>
            <a:srgbClr val="0F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1783080"/>
            <a:ext cx="1463039" cy="566928"/>
          </a:xfrm>
          <a:prstGeom prst="rect">
            <a:avLst/>
          </a:prstGeom>
          <a:noFill/>
        </p:spPr>
        <p:txBody>
          <a:bodyPr wrap="square" lIns="0" tIns="0" rIns="0" bIns="0" anchor="ctr">
            <a:spAutoFit/>
          </a:bodyPr>
          <a:lstStyle/>
          <a:p>
            <a:pPr algn="ctr">
              <a:spcBef>
                <a:spcPts val="0"/>
              </a:spcBef>
              <a:spcAft>
                <a:spcPts val="600"/>
              </a:spcAft>
            </a:pPr>
            <a:r>
              <a:rPr sz="1250" b="1" i="0">
                <a:solidFill>
                  <a:srgbClr val="FFFFFF"/>
                </a:solidFill>
                <a:latin typeface="Calibri"/>
              </a:rPr>
              <a:t>T1046</a:t>
            </a:r>
          </a:p>
        </p:txBody>
      </p:sp>
      <p:sp>
        <p:nvSpPr>
          <p:cNvPr id="9" name="Right Arrow 8"/>
          <p:cNvSpPr/>
          <p:nvPr/>
        </p:nvSpPr>
        <p:spPr>
          <a:xfrm>
            <a:off x="2340864" y="1965960"/>
            <a:ext cx="292608" cy="201168"/>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724912" y="1783080"/>
            <a:ext cx="2103120" cy="566928"/>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70632" y="1783080"/>
            <a:ext cx="2011679" cy="566928"/>
          </a:xfrm>
          <a:prstGeom prst="rect">
            <a:avLst/>
          </a:prstGeom>
          <a:noFill/>
        </p:spPr>
        <p:txBody>
          <a:bodyPr wrap="square" lIns="0" tIns="0" rIns="0" bIns="0" anchor="ctr">
            <a:spAutoFit/>
          </a:bodyPr>
          <a:lstStyle/>
          <a:p>
            <a:pPr algn="ctr">
              <a:spcBef>
                <a:spcPts val="0"/>
              </a:spcBef>
              <a:spcAft>
                <a:spcPts val="600"/>
              </a:spcAft>
            </a:pPr>
            <a:r>
              <a:rPr sz="1250" b="1" i="0">
                <a:solidFill>
                  <a:srgbClr val="13293D"/>
                </a:solidFill>
                <a:latin typeface="Calibri"/>
              </a:rPr>
              <a:t>Discovery</a:t>
            </a:r>
          </a:p>
        </p:txBody>
      </p:sp>
      <p:sp>
        <p:nvSpPr>
          <p:cNvPr id="12" name="Right Arrow 11"/>
          <p:cNvSpPr/>
          <p:nvPr/>
        </p:nvSpPr>
        <p:spPr>
          <a:xfrm>
            <a:off x="4901184" y="1965960"/>
            <a:ext cx="292608" cy="201168"/>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285232" y="1783080"/>
            <a:ext cx="2743200" cy="566928"/>
          </a:xfrm>
          <a:prstGeom prst="roundRect">
            <a:avLst/>
          </a:prstGeom>
          <a:solidFill>
            <a:srgbClr val="D6EC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30952" y="1783080"/>
            <a:ext cx="2651760" cy="566928"/>
          </a:xfrm>
          <a:prstGeom prst="rect">
            <a:avLst/>
          </a:prstGeom>
          <a:noFill/>
        </p:spPr>
        <p:txBody>
          <a:bodyPr wrap="square" lIns="0" tIns="0" rIns="0" bIns="0" anchor="ctr">
            <a:spAutoFit/>
          </a:bodyPr>
          <a:lstStyle/>
          <a:p>
            <a:pPr algn="ctr">
              <a:spcBef>
                <a:spcPts val="0"/>
              </a:spcBef>
              <a:spcAft>
                <a:spcPts val="600"/>
              </a:spcAft>
            </a:pPr>
            <a:r>
              <a:rPr sz="1250" b="1" i="0">
                <a:solidFill>
                  <a:srgbClr val="028090"/>
                </a:solidFill>
                <a:latin typeface="Calibri"/>
              </a:rPr>
              <a:t>Reconnaissance</a:t>
            </a:r>
          </a:p>
        </p:txBody>
      </p:sp>
      <p:sp>
        <p:nvSpPr>
          <p:cNvPr id="15" name="TextBox 14"/>
          <p:cNvSpPr txBox="1"/>
          <p:nvPr/>
        </p:nvSpPr>
        <p:spPr>
          <a:xfrm>
            <a:off x="713232" y="2432304"/>
            <a:ext cx="7955279" cy="320040"/>
          </a:xfrm>
          <a:prstGeom prst="rect">
            <a:avLst/>
          </a:prstGeom>
          <a:noFill/>
        </p:spPr>
        <p:txBody>
          <a:bodyPr wrap="square" lIns="0" tIns="0" rIns="0" bIns="0" anchor="t">
            <a:spAutoFit/>
          </a:bodyPr>
          <a:lstStyle/>
          <a:p>
            <a:pPr algn="l">
              <a:spcBef>
                <a:spcPts val="0"/>
              </a:spcBef>
              <a:spcAft>
                <a:spcPts val="600"/>
              </a:spcAft>
            </a:pPr>
            <a:r>
              <a:rPr sz="1100" b="0" i="1">
                <a:solidFill>
                  <a:srgbClr val="64748B"/>
                </a:solidFill>
                <a:latin typeface="Calibri"/>
              </a:rPr>
              <a:t>technique  →  tactic (read live from STIX, never hardcoded)  →  phase (fixed, asserted crosswalk)</a:t>
            </a:r>
          </a:p>
        </p:txBody>
      </p:sp>
      <p:sp>
        <p:nvSpPr>
          <p:cNvPr id="18" name="Rounded Rectangle 17"/>
          <p:cNvSpPr/>
          <p:nvPr/>
        </p:nvSpPr>
        <p:spPr>
          <a:xfrm>
            <a:off x="566287" y="3001558"/>
            <a:ext cx="3886200" cy="1044662"/>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2591" y="3120430"/>
            <a:ext cx="3593592" cy="1179576"/>
          </a:xfrm>
          <a:prstGeom prst="rect">
            <a:avLst/>
          </a:prstGeom>
          <a:noFill/>
        </p:spPr>
        <p:txBody>
          <a:bodyPr wrap="square" lIns="0" tIns="0" rIns="0" bIns="0" anchor="t">
            <a:spAutoFit/>
          </a:bodyPr>
          <a:lstStyle/>
          <a:p>
            <a:pPr algn="l">
              <a:spcBef>
                <a:spcPts val="0"/>
              </a:spcBef>
              <a:spcAft>
                <a:spcPts val="300"/>
              </a:spcAft>
            </a:pPr>
            <a:r>
              <a:rPr sz="1400" b="1" i="0" dirty="0" err="1">
                <a:solidFill>
                  <a:srgbClr val="9B2C2C"/>
                </a:solidFill>
                <a:latin typeface="Calibri"/>
              </a:rPr>
              <a:t>phase_divergence</a:t>
            </a:r>
            <a:endParaRPr sz="1400" b="1" i="0" dirty="0">
              <a:solidFill>
                <a:srgbClr val="9B2C2C"/>
              </a:solidFill>
              <a:latin typeface="Calibri"/>
            </a:endParaRPr>
          </a:p>
          <a:p>
            <a:pPr algn="l">
              <a:spcBef>
                <a:spcPts val="0"/>
              </a:spcBef>
              <a:spcAft>
                <a:spcPts val="600"/>
              </a:spcAft>
            </a:pPr>
            <a:r>
              <a:rPr sz="1150" b="0" i="0" dirty="0">
                <a:solidFill>
                  <a:srgbClr val="1E293B"/>
                </a:solidFill>
                <a:latin typeface="Calibri"/>
              </a:rPr>
              <a:t>Phases the model asserted that the crosswalk doesn't support, and phases the crosswalk implies the model didn't assign. Recorded, never treated as error.</a:t>
            </a:r>
          </a:p>
        </p:txBody>
      </p:sp>
      <p:pic>
        <p:nvPicPr>
          <p:cNvPr id="21" name="Picture 20">
            <a:extLst>
              <a:ext uri="{FF2B5EF4-FFF2-40B4-BE49-F238E27FC236}">
                <a16:creationId xmlns:a16="http://schemas.microsoft.com/office/drawing/2014/main" id="{7BBF4FAD-4054-524F-EDFB-B952687A3F89}"/>
              </a:ext>
            </a:extLst>
          </p:cNvPr>
          <p:cNvPicPr>
            <a:picLocks noChangeAspect="1"/>
          </p:cNvPicPr>
          <p:nvPr/>
        </p:nvPicPr>
        <p:blipFill>
          <a:blip r:embed="rId2"/>
          <a:stretch>
            <a:fillRect/>
          </a:stretch>
        </p:blipFill>
        <p:spPr>
          <a:xfrm>
            <a:off x="4828032" y="2863585"/>
            <a:ext cx="4076730" cy="156211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46304" cy="146304"/>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7955279" cy="640080"/>
          </a:xfrm>
          <a:prstGeom prst="rect">
            <a:avLst/>
          </a:prstGeom>
          <a:noFill/>
        </p:spPr>
        <p:txBody>
          <a:bodyPr wrap="square" lIns="0" tIns="0" rIns="0" bIns="0" anchor="t">
            <a:spAutoFit/>
          </a:bodyPr>
          <a:lstStyle/>
          <a:p>
            <a:pPr algn="l">
              <a:spcBef>
                <a:spcPts val="0"/>
              </a:spcBef>
              <a:spcAft>
                <a:spcPts val="600"/>
              </a:spcAft>
            </a:pPr>
            <a:r>
              <a:rPr sz="2700" b="1" i="0">
                <a:solidFill>
                  <a:srgbClr val="13293D"/>
                </a:solidFill>
                <a:latin typeface="Calibri"/>
              </a:rPr>
              <a:t>The Second Feedback Loop: Kill Chain ⟲ Threat Intel</a:t>
            </a:r>
          </a:p>
        </p:txBody>
      </p:sp>
      <p:sp>
        <p:nvSpPr>
          <p:cNvPr id="4" name="TextBox 3"/>
          <p:cNvSpPr txBox="1"/>
          <p:nvPr/>
        </p:nvSpPr>
        <p:spPr>
          <a:xfrm>
            <a:off x="457200" y="4828032"/>
            <a:ext cx="6858000" cy="228600"/>
          </a:xfrm>
          <a:prstGeom prst="rect">
            <a:avLst/>
          </a:prstGeom>
          <a:noFill/>
        </p:spPr>
        <p:txBody>
          <a:bodyPr wrap="square" lIns="0" tIns="0" rIns="0" bIns="0" anchor="t">
            <a:spAutoFit/>
          </a:bodyPr>
          <a:lstStyle/>
          <a:p>
            <a:pPr algn="l">
              <a:spcBef>
                <a:spcPts val="0"/>
              </a:spcBef>
              <a:spcAft>
                <a:spcPts val="600"/>
              </a:spcAft>
            </a:pPr>
            <a:r>
              <a:rPr sz="900" b="0" i="0">
                <a:solidFill>
                  <a:srgbClr val="64748B"/>
                </a:solidFill>
                <a:latin typeface="Calibri"/>
              </a:rPr>
              <a:t>Week 4–5  ·  AI Agents for Cybersecurity Defense</a:t>
            </a:r>
          </a:p>
        </p:txBody>
      </p:sp>
      <p:sp>
        <p:nvSpPr>
          <p:cNvPr id="5" name="TextBox 4"/>
          <p:cNvSpPr txBox="1"/>
          <p:nvPr/>
        </p:nvSpPr>
        <p:spPr>
          <a:xfrm>
            <a:off x="8321040" y="4828032"/>
            <a:ext cx="365760" cy="228600"/>
          </a:xfrm>
          <a:prstGeom prst="rect">
            <a:avLst/>
          </a:prstGeom>
          <a:noFill/>
        </p:spPr>
        <p:txBody>
          <a:bodyPr wrap="square" lIns="0" tIns="0" rIns="0" bIns="0" anchor="t">
            <a:spAutoFit/>
          </a:bodyPr>
          <a:lstStyle/>
          <a:p>
            <a:pPr algn="r">
              <a:spcBef>
                <a:spcPts val="0"/>
              </a:spcBef>
              <a:spcAft>
                <a:spcPts val="600"/>
              </a:spcAft>
            </a:pPr>
            <a:r>
              <a:rPr sz="900" b="0" i="0">
                <a:solidFill>
                  <a:srgbClr val="64748B"/>
                </a:solidFill>
                <a:latin typeface="Calibri"/>
              </a:rPr>
              <a:t>10</a:t>
            </a:r>
          </a:p>
        </p:txBody>
      </p:sp>
      <p:sp>
        <p:nvSpPr>
          <p:cNvPr id="6" name="TextBox 5"/>
          <p:cNvSpPr txBox="1"/>
          <p:nvPr/>
        </p:nvSpPr>
        <p:spPr>
          <a:xfrm>
            <a:off x="713232" y="1097280"/>
            <a:ext cx="7955279" cy="430887"/>
          </a:xfrm>
          <a:prstGeom prst="rect">
            <a:avLst/>
          </a:prstGeom>
          <a:noFill/>
        </p:spPr>
        <p:txBody>
          <a:bodyPr wrap="square" lIns="0" tIns="0" rIns="0" bIns="0" anchor="t">
            <a:spAutoFit/>
          </a:bodyPr>
          <a:lstStyle/>
          <a:p>
            <a:pPr algn="l">
              <a:spcBef>
                <a:spcPts val="0"/>
              </a:spcBef>
              <a:spcAft>
                <a:spcPts val="600"/>
              </a:spcAft>
            </a:pPr>
            <a:r>
              <a:rPr sz="1400" b="0" i="0" dirty="0">
                <a:solidFill>
                  <a:srgbClr val="1E293B"/>
                </a:solidFill>
                <a:latin typeface="Calibri"/>
              </a:rPr>
              <a:t>A capped retry mirroring the Week-3 edge. It fires at most once, and the trigger is decided </a:t>
            </a:r>
            <a:r>
              <a:rPr lang="en-US" sz="1400" dirty="0">
                <a:solidFill>
                  <a:srgbClr val="1E293B"/>
                </a:solidFill>
                <a:latin typeface="Calibri"/>
              </a:rPr>
              <a:t>deterministically</a:t>
            </a:r>
            <a:r>
              <a:rPr sz="1400" b="0" i="0" dirty="0">
                <a:solidFill>
                  <a:srgbClr val="1E293B"/>
                </a:solidFill>
                <a:latin typeface="Calibri"/>
              </a:rPr>
              <a:t> the model is never asked whether it wants to retry.</a:t>
            </a:r>
          </a:p>
        </p:txBody>
      </p:sp>
      <p:sp>
        <p:nvSpPr>
          <p:cNvPr id="7" name="Rounded Rectangle 6"/>
          <p:cNvSpPr/>
          <p:nvPr/>
        </p:nvSpPr>
        <p:spPr>
          <a:xfrm>
            <a:off x="713232" y="1920240"/>
            <a:ext cx="2514600" cy="1463040"/>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2066544"/>
            <a:ext cx="2221992" cy="1066959"/>
          </a:xfrm>
          <a:prstGeom prst="rect">
            <a:avLst/>
          </a:prstGeom>
          <a:noFill/>
        </p:spPr>
        <p:txBody>
          <a:bodyPr wrap="square" lIns="0" tIns="0" rIns="0" bIns="0" anchor="t">
            <a:spAutoFit/>
          </a:bodyPr>
          <a:lstStyle/>
          <a:p>
            <a:pPr algn="l">
              <a:spcBef>
                <a:spcPts val="0"/>
              </a:spcBef>
              <a:spcAft>
                <a:spcPts val="400"/>
              </a:spcAft>
            </a:pPr>
            <a:r>
              <a:rPr sz="3000" b="1" i="0" dirty="0">
                <a:solidFill>
                  <a:srgbClr val="028090"/>
                </a:solidFill>
                <a:latin typeface="Calibri"/>
              </a:rPr>
              <a:t>phase gap</a:t>
            </a:r>
          </a:p>
          <a:p>
            <a:pPr algn="l">
              <a:spcBef>
                <a:spcPts val="0"/>
              </a:spcBef>
              <a:spcAft>
                <a:spcPts val="600"/>
              </a:spcAft>
            </a:pPr>
            <a:r>
              <a:rPr sz="1200" b="0" i="0" dirty="0">
                <a:solidFill>
                  <a:srgbClr val="1E293B"/>
                </a:solidFill>
                <a:latin typeface="Calibri"/>
              </a:rPr>
              <a:t>a mid-campaign hole between two assigned phases</a:t>
            </a:r>
            <a:r>
              <a:rPr lang="en-US" sz="1200" b="0" i="0" dirty="0">
                <a:solidFill>
                  <a:srgbClr val="1E293B"/>
                </a:solidFill>
                <a:latin typeface="Calibri"/>
              </a:rPr>
              <a:t>.</a:t>
            </a:r>
            <a:r>
              <a:rPr sz="1200" b="0" i="0" dirty="0">
                <a:solidFill>
                  <a:srgbClr val="1E293B"/>
                </a:solidFill>
                <a:latin typeface="Calibri"/>
              </a:rPr>
              <a:t> not a missing </a:t>
            </a:r>
            <a:r>
              <a:rPr lang="en-US" sz="1200" b="0" i="0" dirty="0">
                <a:solidFill>
                  <a:srgbClr val="1E293B"/>
                </a:solidFill>
                <a:latin typeface="Calibri"/>
              </a:rPr>
              <a:t>the last phase</a:t>
            </a:r>
            <a:r>
              <a:rPr sz="1200" b="0" i="0" dirty="0">
                <a:solidFill>
                  <a:srgbClr val="1E293B"/>
                </a:solidFill>
                <a:latin typeface="Calibri"/>
              </a:rPr>
              <a:t>.</a:t>
            </a:r>
          </a:p>
        </p:txBody>
      </p:sp>
      <p:sp>
        <p:nvSpPr>
          <p:cNvPr id="9" name="Rounded Rectangle 8"/>
          <p:cNvSpPr/>
          <p:nvPr/>
        </p:nvSpPr>
        <p:spPr>
          <a:xfrm>
            <a:off x="3410712" y="1920240"/>
            <a:ext cx="2514600" cy="1463040"/>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57016" y="2066544"/>
            <a:ext cx="2221992" cy="1170432"/>
          </a:xfrm>
          <a:prstGeom prst="rect">
            <a:avLst/>
          </a:prstGeom>
          <a:noFill/>
        </p:spPr>
        <p:txBody>
          <a:bodyPr wrap="square" lIns="0" tIns="0" rIns="0" bIns="0" anchor="t">
            <a:spAutoFit/>
          </a:bodyPr>
          <a:lstStyle/>
          <a:p>
            <a:pPr algn="l">
              <a:spcBef>
                <a:spcPts val="0"/>
              </a:spcBef>
              <a:spcAft>
                <a:spcPts val="400"/>
              </a:spcAft>
            </a:pPr>
            <a:r>
              <a:rPr sz="3000" b="1" i="0">
                <a:solidFill>
                  <a:srgbClr val="028090"/>
                </a:solidFill>
                <a:latin typeface="Calibri"/>
              </a:rPr>
              <a:t>high-sev</a:t>
            </a:r>
          </a:p>
          <a:p>
            <a:pPr algn="l">
              <a:spcBef>
                <a:spcPts val="0"/>
              </a:spcBef>
              <a:spcAft>
                <a:spcPts val="600"/>
              </a:spcAft>
            </a:pPr>
            <a:r>
              <a:rPr sz="1200" b="0" i="0">
                <a:solidFill>
                  <a:srgbClr val="1E293B"/>
                </a:solidFill>
                <a:latin typeface="Calibri"/>
              </a:rPr>
              <a:t>an unassigned finding the Network Analyst marked high severity.</a:t>
            </a:r>
          </a:p>
        </p:txBody>
      </p:sp>
      <p:sp>
        <p:nvSpPr>
          <p:cNvPr id="11" name="Rounded Rectangle 10"/>
          <p:cNvSpPr/>
          <p:nvPr/>
        </p:nvSpPr>
        <p:spPr>
          <a:xfrm>
            <a:off x="6108192" y="1920240"/>
            <a:ext cx="2514600" cy="1463040"/>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54496" y="2066544"/>
            <a:ext cx="2221992" cy="1170432"/>
          </a:xfrm>
          <a:prstGeom prst="rect">
            <a:avLst/>
          </a:prstGeom>
          <a:noFill/>
        </p:spPr>
        <p:txBody>
          <a:bodyPr wrap="square" lIns="0" tIns="0" rIns="0" bIns="0" anchor="t">
            <a:spAutoFit/>
          </a:bodyPr>
          <a:lstStyle/>
          <a:p>
            <a:pPr algn="l">
              <a:spcBef>
                <a:spcPts val="0"/>
              </a:spcBef>
              <a:spcAft>
                <a:spcPts val="400"/>
              </a:spcAft>
            </a:pPr>
            <a:r>
              <a:rPr sz="3000" b="1" i="0">
                <a:solidFill>
                  <a:srgbClr val="9B2C2C"/>
                </a:solidFill>
                <a:latin typeface="Calibri"/>
              </a:rPr>
              <a:t>ungrounded</a:t>
            </a:r>
          </a:p>
          <a:p>
            <a:pPr algn="l">
              <a:spcBef>
                <a:spcPts val="0"/>
              </a:spcBef>
              <a:spcAft>
                <a:spcPts val="600"/>
              </a:spcAft>
            </a:pPr>
            <a:r>
              <a:rPr sz="1200" b="0" i="0">
                <a:solidFill>
                  <a:srgbClr val="1E293B"/>
                </a:solidFill>
                <a:latin typeface="Calibri"/>
              </a:rPr>
              <a:t>a technique the grounding verifier says Threat Intel never returned.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F4A5F5-47E8-083B-17F6-888A870A558E}"/>
              </a:ext>
            </a:extLst>
          </p:cNvPr>
          <p:cNvPicPr>
            <a:picLocks noChangeAspect="1"/>
          </p:cNvPicPr>
          <p:nvPr/>
        </p:nvPicPr>
        <p:blipFill>
          <a:blip r:embed="rId2"/>
          <a:stretch>
            <a:fillRect/>
          </a:stretch>
        </p:blipFill>
        <p:spPr>
          <a:xfrm>
            <a:off x="894347" y="100284"/>
            <a:ext cx="7504532" cy="5043216"/>
          </a:xfrm>
          <a:prstGeom prst="rect">
            <a:avLst/>
          </a:prstGeom>
        </p:spPr>
      </p:pic>
    </p:spTree>
    <p:extLst>
      <p:ext uri="{BB962C8B-B14F-4D97-AF65-F5344CB8AC3E}">
        <p14:creationId xmlns:p14="http://schemas.microsoft.com/office/powerpoint/2010/main" val="727657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46304" cy="146304"/>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7955279" cy="640080"/>
          </a:xfrm>
          <a:prstGeom prst="rect">
            <a:avLst/>
          </a:prstGeom>
          <a:noFill/>
        </p:spPr>
        <p:txBody>
          <a:bodyPr wrap="square" lIns="0" tIns="0" rIns="0" bIns="0" anchor="t">
            <a:spAutoFit/>
          </a:bodyPr>
          <a:lstStyle/>
          <a:p>
            <a:pPr algn="l">
              <a:spcBef>
                <a:spcPts val="0"/>
              </a:spcBef>
              <a:spcAft>
                <a:spcPts val="600"/>
              </a:spcAft>
            </a:pPr>
            <a:r>
              <a:rPr sz="2700" b="1" i="0">
                <a:solidFill>
                  <a:srgbClr val="13293D"/>
                </a:solidFill>
                <a:latin typeface="Calibri"/>
              </a:rPr>
              <a:t>The Report Writer Agent</a:t>
            </a:r>
          </a:p>
        </p:txBody>
      </p:sp>
      <p:sp>
        <p:nvSpPr>
          <p:cNvPr id="4" name="TextBox 3"/>
          <p:cNvSpPr txBox="1"/>
          <p:nvPr/>
        </p:nvSpPr>
        <p:spPr>
          <a:xfrm>
            <a:off x="457200" y="4828032"/>
            <a:ext cx="6858000" cy="228600"/>
          </a:xfrm>
          <a:prstGeom prst="rect">
            <a:avLst/>
          </a:prstGeom>
          <a:noFill/>
        </p:spPr>
        <p:txBody>
          <a:bodyPr wrap="square" lIns="0" tIns="0" rIns="0" bIns="0" anchor="t">
            <a:spAutoFit/>
          </a:bodyPr>
          <a:lstStyle/>
          <a:p>
            <a:pPr algn="l">
              <a:spcBef>
                <a:spcPts val="0"/>
              </a:spcBef>
              <a:spcAft>
                <a:spcPts val="600"/>
              </a:spcAft>
            </a:pPr>
            <a:r>
              <a:rPr sz="900" b="0" i="0">
                <a:solidFill>
                  <a:srgbClr val="64748B"/>
                </a:solidFill>
                <a:latin typeface="Calibri"/>
              </a:rPr>
              <a:t>Week 4–5  ·  AI Agents for Cybersecurity Defense</a:t>
            </a:r>
          </a:p>
        </p:txBody>
      </p:sp>
      <p:sp>
        <p:nvSpPr>
          <p:cNvPr id="5" name="TextBox 4"/>
          <p:cNvSpPr txBox="1"/>
          <p:nvPr/>
        </p:nvSpPr>
        <p:spPr>
          <a:xfrm>
            <a:off x="8321040" y="4828032"/>
            <a:ext cx="365760" cy="228600"/>
          </a:xfrm>
          <a:prstGeom prst="rect">
            <a:avLst/>
          </a:prstGeom>
          <a:noFill/>
        </p:spPr>
        <p:txBody>
          <a:bodyPr wrap="square" lIns="0" tIns="0" rIns="0" bIns="0" anchor="t">
            <a:spAutoFit/>
          </a:bodyPr>
          <a:lstStyle/>
          <a:p>
            <a:pPr algn="r">
              <a:spcBef>
                <a:spcPts val="0"/>
              </a:spcBef>
              <a:spcAft>
                <a:spcPts val="600"/>
              </a:spcAft>
            </a:pPr>
            <a:r>
              <a:rPr sz="900" b="0" i="0">
                <a:solidFill>
                  <a:srgbClr val="64748B"/>
                </a:solidFill>
                <a:latin typeface="Calibri"/>
              </a:rPr>
              <a:t>11</a:t>
            </a:r>
          </a:p>
        </p:txBody>
      </p:sp>
      <p:sp>
        <p:nvSpPr>
          <p:cNvPr id="6" name="TextBox 5"/>
          <p:cNvSpPr txBox="1"/>
          <p:nvPr/>
        </p:nvSpPr>
        <p:spPr>
          <a:xfrm>
            <a:off x="713232" y="1078992"/>
            <a:ext cx="7955279" cy="230832"/>
          </a:xfrm>
          <a:prstGeom prst="rect">
            <a:avLst/>
          </a:prstGeom>
          <a:noFill/>
        </p:spPr>
        <p:txBody>
          <a:bodyPr wrap="square" lIns="0" tIns="0" rIns="0" bIns="0" anchor="t">
            <a:spAutoFit/>
          </a:bodyPr>
          <a:lstStyle/>
          <a:p>
            <a:pPr algn="l">
              <a:spcBef>
                <a:spcPts val="0"/>
              </a:spcBef>
              <a:spcAft>
                <a:spcPts val="600"/>
              </a:spcAft>
            </a:pPr>
            <a:r>
              <a:rPr sz="1500" b="0" i="0" dirty="0">
                <a:solidFill>
                  <a:srgbClr val="1E293B"/>
                </a:solidFill>
                <a:latin typeface="Calibri"/>
              </a:rPr>
              <a:t>The fourth agent is </a:t>
            </a:r>
            <a:r>
              <a:rPr lang="en-US" sz="1500" b="0" i="0" dirty="0">
                <a:solidFill>
                  <a:srgbClr val="1E293B"/>
                </a:solidFill>
                <a:latin typeface="Calibri"/>
              </a:rPr>
              <a:t>just</a:t>
            </a:r>
            <a:r>
              <a:rPr sz="1500" b="0" i="0" dirty="0">
                <a:solidFill>
                  <a:srgbClr val="1E293B"/>
                </a:solidFill>
                <a:latin typeface="Calibri"/>
              </a:rPr>
              <a:t> </a:t>
            </a:r>
            <a:r>
              <a:rPr sz="1500" i="0" dirty="0">
                <a:solidFill>
                  <a:srgbClr val="13293D"/>
                </a:solidFill>
                <a:latin typeface="Calibri"/>
              </a:rPr>
              <a:t>synthesi</a:t>
            </a:r>
            <a:r>
              <a:rPr lang="en-US" sz="1500" i="0" dirty="0">
                <a:solidFill>
                  <a:srgbClr val="13293D"/>
                </a:solidFill>
                <a:latin typeface="Calibri"/>
              </a:rPr>
              <a:t>s</a:t>
            </a:r>
            <a:r>
              <a:rPr lang="en-US" sz="1500" b="1" i="0" dirty="0">
                <a:solidFill>
                  <a:srgbClr val="13293D"/>
                </a:solidFill>
                <a:latin typeface="Calibri"/>
              </a:rPr>
              <a:t>. Nothing new is generated</a:t>
            </a:r>
            <a:r>
              <a:rPr sz="1500" b="0" i="0" dirty="0">
                <a:solidFill>
                  <a:srgbClr val="1E293B"/>
                </a:solidFill>
                <a:latin typeface="Calibri"/>
              </a:rPr>
              <a:t>. Code computes; the model transcribes.</a:t>
            </a:r>
          </a:p>
        </p:txBody>
      </p:sp>
      <p:sp>
        <p:nvSpPr>
          <p:cNvPr id="7" name="TextBox 6"/>
          <p:cNvSpPr txBox="1"/>
          <p:nvPr/>
        </p:nvSpPr>
        <p:spPr>
          <a:xfrm>
            <a:off x="713232" y="1783080"/>
            <a:ext cx="7955279" cy="1631216"/>
          </a:xfrm>
          <a:prstGeom prst="rect">
            <a:avLst/>
          </a:prstGeom>
          <a:noFill/>
        </p:spPr>
        <p:txBody>
          <a:bodyPr wrap="square" lIns="0" tIns="0" rIns="0" bIns="0" anchor="t">
            <a:spAutoFit/>
          </a:bodyPr>
          <a:lstStyle/>
          <a:p>
            <a:pPr algn="l">
              <a:spcBef>
                <a:spcPts val="0"/>
              </a:spcBef>
              <a:spcAft>
                <a:spcPts val="1000"/>
              </a:spcAft>
            </a:pPr>
            <a:r>
              <a:rPr sz="1350" b="1" i="0" dirty="0">
                <a:solidFill>
                  <a:srgbClr val="13293D"/>
                </a:solidFill>
                <a:latin typeface="Calibri"/>
              </a:rPr>
              <a:t>•  Input, not raw flows. </a:t>
            </a:r>
            <a:r>
              <a:rPr sz="1350" b="0" i="0" dirty="0">
                <a:solidFill>
                  <a:srgbClr val="1E293B"/>
                </a:solidFill>
                <a:latin typeface="Calibri"/>
              </a:rPr>
              <a:t>The three upstream structured outputs</a:t>
            </a:r>
            <a:r>
              <a:rPr lang="en-US" sz="1350" b="0" i="0" dirty="0">
                <a:solidFill>
                  <a:srgbClr val="1E293B"/>
                </a:solidFill>
                <a:latin typeface="Calibri"/>
              </a:rPr>
              <a:t>; </a:t>
            </a:r>
            <a:r>
              <a:rPr sz="1350" b="0" i="0" dirty="0">
                <a:solidFill>
                  <a:srgbClr val="1E293B"/>
                </a:solidFill>
                <a:latin typeface="Calibri"/>
              </a:rPr>
              <a:t>findings, mappings, kill-chain narrative</a:t>
            </a:r>
            <a:endParaRPr lang="en-US" sz="1350" b="0" i="0" dirty="0">
              <a:solidFill>
                <a:srgbClr val="1E293B"/>
              </a:solidFill>
              <a:latin typeface="Calibri"/>
            </a:endParaRPr>
          </a:p>
          <a:p>
            <a:pPr algn="l">
              <a:spcBef>
                <a:spcPts val="0"/>
              </a:spcBef>
              <a:spcAft>
                <a:spcPts val="1000"/>
              </a:spcAft>
            </a:pPr>
            <a:r>
              <a:rPr sz="1350" b="1" i="0" dirty="0">
                <a:solidFill>
                  <a:srgbClr val="13293D"/>
                </a:solidFill>
                <a:latin typeface="Calibri"/>
              </a:rPr>
              <a:t>•  Two read-only tools only. </a:t>
            </a:r>
            <a:r>
              <a:rPr sz="1350" b="0" i="0" dirty="0" err="1">
                <a:solidFill>
                  <a:srgbClr val="1E293B"/>
                </a:solidFill>
                <a:latin typeface="Calibri"/>
              </a:rPr>
              <a:t>get_technique_context</a:t>
            </a:r>
            <a:r>
              <a:rPr sz="1350" b="0" i="0" dirty="0">
                <a:solidFill>
                  <a:srgbClr val="1E293B"/>
                </a:solidFill>
                <a:latin typeface="Calibri"/>
              </a:rPr>
              <a:t> and </a:t>
            </a:r>
            <a:r>
              <a:rPr sz="1350" b="0" i="0" dirty="0" err="1">
                <a:solidFill>
                  <a:srgbClr val="1E293B"/>
                </a:solidFill>
                <a:latin typeface="Calibri"/>
              </a:rPr>
              <a:t>list_phase_definitions</a:t>
            </a:r>
            <a:r>
              <a:rPr lang="en-US" sz="1350" dirty="0">
                <a:solidFill>
                  <a:srgbClr val="1E293B"/>
                </a:solidFill>
                <a:latin typeface="Calibri"/>
              </a:rPr>
              <a:t>. E</a:t>
            </a:r>
            <a:r>
              <a:rPr sz="1350" b="0" i="0" dirty="0">
                <a:solidFill>
                  <a:srgbClr val="1E293B"/>
                </a:solidFill>
                <a:latin typeface="Calibri"/>
              </a:rPr>
              <a:t>nough to phrase a technique in plain language, with no way to drill into data.</a:t>
            </a:r>
          </a:p>
          <a:p>
            <a:pPr algn="l">
              <a:spcBef>
                <a:spcPts val="0"/>
              </a:spcBef>
              <a:spcAft>
                <a:spcPts val="1000"/>
              </a:spcAft>
            </a:pPr>
            <a:r>
              <a:rPr sz="1350" b="1" i="0" dirty="0">
                <a:solidFill>
                  <a:srgbClr val="13293D"/>
                </a:solidFill>
                <a:latin typeface="Calibri"/>
              </a:rPr>
              <a:t>•  Grounding recheck. </a:t>
            </a:r>
            <a:r>
              <a:rPr sz="1350" b="0" i="0" dirty="0">
                <a:solidFill>
                  <a:srgbClr val="1E293B"/>
                </a:solidFill>
                <a:latin typeface="Calibri"/>
              </a:rPr>
              <a:t>After it writes, code flags any technique ID that isn't in Threat Intel's mappings.</a:t>
            </a:r>
          </a:p>
          <a:p>
            <a:pPr algn="l">
              <a:spcBef>
                <a:spcPts val="0"/>
              </a:spcBef>
              <a:spcAft>
                <a:spcPts val="1000"/>
              </a:spcAft>
            </a:pPr>
            <a:r>
              <a:rPr sz="1350" b="1" i="0" dirty="0">
                <a:solidFill>
                  <a:srgbClr val="13293D"/>
                </a:solidFill>
                <a:latin typeface="Calibri"/>
              </a:rPr>
              <a:t>•  </a:t>
            </a:r>
            <a:r>
              <a:rPr lang="en-US" sz="1350" b="1" i="0" dirty="0">
                <a:solidFill>
                  <a:srgbClr val="13293D"/>
                </a:solidFill>
                <a:latin typeface="Calibri"/>
              </a:rPr>
              <a:t>O</a:t>
            </a:r>
            <a:r>
              <a:rPr sz="1350" b="1" i="0" dirty="0">
                <a:solidFill>
                  <a:srgbClr val="13293D"/>
                </a:solidFill>
                <a:latin typeface="Calibri"/>
              </a:rPr>
              <a:t>utput. </a:t>
            </a:r>
            <a:r>
              <a:rPr sz="1350" b="0" i="0" dirty="0">
                <a:solidFill>
                  <a:srgbClr val="1E293B"/>
                </a:solidFill>
                <a:latin typeface="Calibri"/>
              </a:rPr>
              <a:t>A markdown report for the profile's </a:t>
            </a:r>
            <a:r>
              <a:rPr sz="1350" b="0" i="0" dirty="0" err="1">
                <a:solidFill>
                  <a:srgbClr val="1E293B"/>
                </a:solidFill>
                <a:latin typeface="Calibri"/>
              </a:rPr>
              <a:t>reporting_audience</a:t>
            </a:r>
            <a:r>
              <a:rPr sz="1350" b="0" i="0" dirty="0">
                <a:solidFill>
                  <a:srgbClr val="1E293B"/>
                </a:solidFill>
                <a:latin typeface="Calibri"/>
              </a:rPr>
              <a:t>: summary / what happened / findings + mapping / gaps / recommended actions.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D3DF4E-C987-97F7-D74F-EB23CBBA56C7}"/>
              </a:ext>
            </a:extLst>
          </p:cNvPr>
          <p:cNvPicPr>
            <a:picLocks noChangeAspect="1"/>
          </p:cNvPicPr>
          <p:nvPr/>
        </p:nvPicPr>
        <p:blipFill>
          <a:blip r:embed="rId2"/>
          <a:stretch>
            <a:fillRect/>
          </a:stretch>
        </p:blipFill>
        <p:spPr>
          <a:xfrm>
            <a:off x="0" y="214737"/>
            <a:ext cx="9144000" cy="4593710"/>
          </a:xfrm>
          <a:prstGeom prst="rect">
            <a:avLst/>
          </a:prstGeom>
        </p:spPr>
      </p:pic>
    </p:spTree>
    <p:extLst>
      <p:ext uri="{BB962C8B-B14F-4D97-AF65-F5344CB8AC3E}">
        <p14:creationId xmlns:p14="http://schemas.microsoft.com/office/powerpoint/2010/main" val="1867762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46304" cy="146304"/>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7955279" cy="415498"/>
          </a:xfrm>
          <a:prstGeom prst="rect">
            <a:avLst/>
          </a:prstGeom>
          <a:noFill/>
        </p:spPr>
        <p:txBody>
          <a:bodyPr wrap="square" lIns="0" tIns="0" rIns="0" bIns="0" anchor="t">
            <a:spAutoFit/>
          </a:bodyPr>
          <a:lstStyle/>
          <a:p>
            <a:pPr algn="l">
              <a:spcBef>
                <a:spcPts val="0"/>
              </a:spcBef>
              <a:spcAft>
                <a:spcPts val="600"/>
              </a:spcAft>
            </a:pPr>
            <a:r>
              <a:rPr lang="en-US" sz="2700" b="1" i="0" dirty="0">
                <a:solidFill>
                  <a:srgbClr val="13293D"/>
                </a:solidFill>
                <a:latin typeface="Calibri"/>
              </a:rPr>
              <a:t>Environment Contexts </a:t>
            </a:r>
            <a:endParaRPr sz="2700" b="1" i="0" dirty="0">
              <a:solidFill>
                <a:srgbClr val="13293D"/>
              </a:solidFill>
              <a:latin typeface="Calibri"/>
            </a:endParaRPr>
          </a:p>
        </p:txBody>
      </p:sp>
      <p:sp>
        <p:nvSpPr>
          <p:cNvPr id="4" name="TextBox 3"/>
          <p:cNvSpPr txBox="1"/>
          <p:nvPr/>
        </p:nvSpPr>
        <p:spPr>
          <a:xfrm>
            <a:off x="457200" y="4828032"/>
            <a:ext cx="6858000" cy="228600"/>
          </a:xfrm>
          <a:prstGeom prst="rect">
            <a:avLst/>
          </a:prstGeom>
          <a:noFill/>
        </p:spPr>
        <p:txBody>
          <a:bodyPr wrap="square" lIns="0" tIns="0" rIns="0" bIns="0" anchor="t">
            <a:spAutoFit/>
          </a:bodyPr>
          <a:lstStyle/>
          <a:p>
            <a:pPr algn="l">
              <a:spcBef>
                <a:spcPts val="0"/>
              </a:spcBef>
              <a:spcAft>
                <a:spcPts val="600"/>
              </a:spcAft>
            </a:pPr>
            <a:r>
              <a:rPr sz="900" b="0" i="0">
                <a:solidFill>
                  <a:srgbClr val="64748B"/>
                </a:solidFill>
                <a:latin typeface="Calibri"/>
              </a:rPr>
              <a:t>Week 4–5  ·  AI Agents for Cybersecurity Defense</a:t>
            </a:r>
          </a:p>
        </p:txBody>
      </p:sp>
      <p:sp>
        <p:nvSpPr>
          <p:cNvPr id="5" name="TextBox 4"/>
          <p:cNvSpPr txBox="1"/>
          <p:nvPr/>
        </p:nvSpPr>
        <p:spPr>
          <a:xfrm>
            <a:off x="8321040" y="4828032"/>
            <a:ext cx="365760" cy="228600"/>
          </a:xfrm>
          <a:prstGeom prst="rect">
            <a:avLst/>
          </a:prstGeom>
          <a:noFill/>
        </p:spPr>
        <p:txBody>
          <a:bodyPr wrap="square" lIns="0" tIns="0" rIns="0" bIns="0" anchor="t">
            <a:spAutoFit/>
          </a:bodyPr>
          <a:lstStyle/>
          <a:p>
            <a:pPr algn="r">
              <a:spcBef>
                <a:spcPts val="0"/>
              </a:spcBef>
              <a:spcAft>
                <a:spcPts val="600"/>
              </a:spcAft>
            </a:pPr>
            <a:r>
              <a:rPr sz="900" b="0" i="0">
                <a:solidFill>
                  <a:srgbClr val="64748B"/>
                </a:solidFill>
                <a:latin typeface="Calibri"/>
              </a:rPr>
              <a:t>13</a:t>
            </a:r>
          </a:p>
        </p:txBody>
      </p:sp>
      <p:sp>
        <p:nvSpPr>
          <p:cNvPr id="6" name="TextBox 5"/>
          <p:cNvSpPr txBox="1"/>
          <p:nvPr/>
        </p:nvSpPr>
        <p:spPr>
          <a:xfrm>
            <a:off x="713232" y="1097280"/>
            <a:ext cx="7955279" cy="446276"/>
          </a:xfrm>
          <a:prstGeom prst="rect">
            <a:avLst/>
          </a:prstGeom>
          <a:noFill/>
        </p:spPr>
        <p:txBody>
          <a:bodyPr wrap="square" lIns="0" tIns="0" rIns="0" bIns="0" anchor="t">
            <a:spAutoFit/>
          </a:bodyPr>
          <a:lstStyle/>
          <a:p>
            <a:pPr algn="l">
              <a:spcBef>
                <a:spcPts val="0"/>
              </a:spcBef>
              <a:spcAft>
                <a:spcPts val="600"/>
              </a:spcAft>
            </a:pPr>
            <a:r>
              <a:rPr lang="en-US" sz="1450" b="0" i="0" dirty="0">
                <a:solidFill>
                  <a:srgbClr val="1E293B"/>
                </a:solidFill>
                <a:latin typeface="Calibri"/>
              </a:rPr>
              <a:t>Feedback from Dustin last week was to have Environment contexts for the agents. Still messing around with the idea but two are made and “working” </a:t>
            </a:r>
            <a:endParaRPr sz="1450" b="0" i="0" dirty="0">
              <a:solidFill>
                <a:srgbClr val="1E293B"/>
              </a:solidFill>
              <a:latin typeface="Calibri"/>
            </a:endParaRPr>
          </a:p>
        </p:txBody>
      </p:sp>
      <p:sp>
        <p:nvSpPr>
          <p:cNvPr id="7" name="Rounded Rectangle 6"/>
          <p:cNvSpPr/>
          <p:nvPr/>
        </p:nvSpPr>
        <p:spPr>
          <a:xfrm>
            <a:off x="401053" y="1753568"/>
            <a:ext cx="3542418" cy="3076138"/>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1871421"/>
            <a:ext cx="2221992" cy="923330"/>
          </a:xfrm>
          <a:prstGeom prst="rect">
            <a:avLst/>
          </a:prstGeom>
          <a:noFill/>
        </p:spPr>
        <p:txBody>
          <a:bodyPr wrap="square" lIns="0" tIns="0" rIns="0" bIns="0" anchor="t">
            <a:spAutoFit/>
          </a:bodyPr>
          <a:lstStyle/>
          <a:p>
            <a:pPr algn="l">
              <a:spcBef>
                <a:spcPts val="0"/>
              </a:spcBef>
              <a:spcAft>
                <a:spcPts val="400"/>
              </a:spcAft>
            </a:pPr>
            <a:r>
              <a:rPr lang="en-US" sz="3000" b="1" i="0" dirty="0">
                <a:solidFill>
                  <a:srgbClr val="128A5A"/>
                </a:solidFill>
                <a:latin typeface="Calibri"/>
              </a:rPr>
              <a:t>Personal Laptop</a:t>
            </a:r>
            <a:endParaRPr sz="3000" b="1" i="0" dirty="0">
              <a:solidFill>
                <a:srgbClr val="128A5A"/>
              </a:solidFill>
              <a:latin typeface="Calibri"/>
            </a:endParaRPr>
          </a:p>
        </p:txBody>
      </p:sp>
      <p:sp>
        <p:nvSpPr>
          <p:cNvPr id="9" name="Rounded Rectangle 8"/>
          <p:cNvSpPr/>
          <p:nvPr/>
        </p:nvSpPr>
        <p:spPr>
          <a:xfrm>
            <a:off x="5200530" y="1753568"/>
            <a:ext cx="3595678" cy="2937951"/>
          </a:xfrm>
          <a:prstGeom prst="roundRect">
            <a:avLst/>
          </a:prstGeom>
          <a:solidFill>
            <a:srgbClr val="EE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5526184" y="1956816"/>
            <a:ext cx="2221992" cy="923330"/>
          </a:xfrm>
          <a:prstGeom prst="rect">
            <a:avLst/>
          </a:prstGeom>
          <a:noFill/>
        </p:spPr>
        <p:txBody>
          <a:bodyPr wrap="square" lIns="0" tIns="0" rIns="0" bIns="0" anchor="t">
            <a:spAutoFit/>
          </a:bodyPr>
          <a:lstStyle/>
          <a:p>
            <a:pPr algn="l">
              <a:spcBef>
                <a:spcPts val="0"/>
              </a:spcBef>
              <a:spcAft>
                <a:spcPts val="400"/>
              </a:spcAft>
            </a:pPr>
            <a:r>
              <a:rPr lang="en-US" sz="3000" b="1" i="0" dirty="0">
                <a:solidFill>
                  <a:srgbClr val="028090"/>
                </a:solidFill>
                <a:latin typeface="Calibri"/>
              </a:rPr>
              <a:t>Enterprise Network</a:t>
            </a:r>
            <a:endParaRPr sz="3000" b="1" i="0" dirty="0">
              <a:solidFill>
                <a:srgbClr val="028090"/>
              </a:solidFill>
              <a:latin typeface="Calibri"/>
            </a:endParaRPr>
          </a:p>
        </p:txBody>
      </p:sp>
      <p:sp>
        <p:nvSpPr>
          <p:cNvPr id="15" name="TextBox 14">
            <a:extLst>
              <a:ext uri="{FF2B5EF4-FFF2-40B4-BE49-F238E27FC236}">
                <a16:creationId xmlns:a16="http://schemas.microsoft.com/office/drawing/2014/main" id="{222CA359-54FF-85AD-7F2E-6C64FD054423}"/>
              </a:ext>
            </a:extLst>
          </p:cNvPr>
          <p:cNvSpPr txBox="1"/>
          <p:nvPr/>
        </p:nvSpPr>
        <p:spPr>
          <a:xfrm>
            <a:off x="665748" y="2822531"/>
            <a:ext cx="3220452" cy="1754326"/>
          </a:xfrm>
          <a:prstGeom prst="rect">
            <a:avLst/>
          </a:prstGeom>
          <a:noFill/>
        </p:spPr>
        <p:txBody>
          <a:bodyPr wrap="square">
            <a:spAutoFit/>
          </a:bodyPr>
          <a:lstStyle/>
          <a:p>
            <a:r>
              <a:rPr lang="en-US" sz="1200" dirty="0"/>
              <a:t>A ~400-person company whose public web server is </a:t>
            </a:r>
            <a:r>
              <a:rPr lang="en-US" sz="1200" i="1" dirty="0"/>
              <a:t>meant</a:t>
            </a:r>
            <a:r>
              <a:rPr lang="en-US" sz="1200" dirty="0"/>
              <a:t> to receive HTTP/HTTPS from anywhere, sitting alongside an internal domain controller and crown-jewel PII and source-code servers. So the agents treat that same inbound web traffic as routine, and instead escalate DMZ-to-internal-LAN connections and off-hours logins, reporting to SOC analysts who already know ATT&amp;CK.</a:t>
            </a:r>
          </a:p>
        </p:txBody>
      </p:sp>
      <p:sp>
        <p:nvSpPr>
          <p:cNvPr id="17" name="TextBox 16">
            <a:extLst>
              <a:ext uri="{FF2B5EF4-FFF2-40B4-BE49-F238E27FC236}">
                <a16:creationId xmlns:a16="http://schemas.microsoft.com/office/drawing/2014/main" id="{0B4FB261-6366-AFE6-0408-F08C55CCDDAA}"/>
              </a:ext>
            </a:extLst>
          </p:cNvPr>
          <p:cNvSpPr txBox="1"/>
          <p:nvPr/>
        </p:nvSpPr>
        <p:spPr>
          <a:xfrm>
            <a:off x="5333999" y="3072293"/>
            <a:ext cx="3517232" cy="1384995"/>
          </a:xfrm>
          <a:prstGeom prst="rect">
            <a:avLst/>
          </a:prstGeom>
          <a:noFill/>
        </p:spPr>
        <p:txBody>
          <a:bodyPr wrap="square">
            <a:spAutoFit/>
          </a:bodyPr>
          <a:lstStyle/>
          <a:p>
            <a:r>
              <a:rPr lang="en-US" sz="1200" dirty="0"/>
              <a:t>A single home laptop behind a NAT router, where nearly all traffic is outbound browsing and updates and it should essentially never receive a connection started from the internet. So the agents treat any inbound connection, or steady beaconing to one unfamiliar host, as high concern, and write the report in plain language for the laptop's owner.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46304" cy="146304"/>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7955279" cy="415498"/>
          </a:xfrm>
          <a:prstGeom prst="rect">
            <a:avLst/>
          </a:prstGeom>
          <a:noFill/>
        </p:spPr>
        <p:txBody>
          <a:bodyPr wrap="square" lIns="0" tIns="0" rIns="0" bIns="0" anchor="t">
            <a:spAutoFit/>
          </a:bodyPr>
          <a:lstStyle/>
          <a:p>
            <a:pPr algn="l">
              <a:spcBef>
                <a:spcPts val="0"/>
              </a:spcBef>
              <a:spcAft>
                <a:spcPts val="600"/>
              </a:spcAft>
            </a:pPr>
            <a:r>
              <a:rPr sz="2700" b="1" i="0" dirty="0">
                <a:solidFill>
                  <a:srgbClr val="13293D"/>
                </a:solidFill>
                <a:latin typeface="Calibri"/>
              </a:rPr>
              <a:t>What It Gets Wrong</a:t>
            </a:r>
          </a:p>
        </p:txBody>
      </p:sp>
      <p:sp>
        <p:nvSpPr>
          <p:cNvPr id="4" name="TextBox 3"/>
          <p:cNvSpPr txBox="1"/>
          <p:nvPr/>
        </p:nvSpPr>
        <p:spPr>
          <a:xfrm>
            <a:off x="457200" y="4828032"/>
            <a:ext cx="6858000" cy="228600"/>
          </a:xfrm>
          <a:prstGeom prst="rect">
            <a:avLst/>
          </a:prstGeom>
          <a:noFill/>
        </p:spPr>
        <p:txBody>
          <a:bodyPr wrap="square" lIns="0" tIns="0" rIns="0" bIns="0" anchor="t">
            <a:spAutoFit/>
          </a:bodyPr>
          <a:lstStyle/>
          <a:p>
            <a:pPr algn="l">
              <a:spcBef>
                <a:spcPts val="0"/>
              </a:spcBef>
              <a:spcAft>
                <a:spcPts val="600"/>
              </a:spcAft>
            </a:pPr>
            <a:r>
              <a:rPr sz="900" b="0" i="0">
                <a:solidFill>
                  <a:srgbClr val="64748B"/>
                </a:solidFill>
                <a:latin typeface="Calibri"/>
              </a:rPr>
              <a:t>Week 4–5  ·  AI Agents for Cybersecurity Defense</a:t>
            </a:r>
          </a:p>
        </p:txBody>
      </p:sp>
      <p:sp>
        <p:nvSpPr>
          <p:cNvPr id="5" name="TextBox 4"/>
          <p:cNvSpPr txBox="1"/>
          <p:nvPr/>
        </p:nvSpPr>
        <p:spPr>
          <a:xfrm>
            <a:off x="8321040" y="4828032"/>
            <a:ext cx="365760" cy="228600"/>
          </a:xfrm>
          <a:prstGeom prst="rect">
            <a:avLst/>
          </a:prstGeom>
          <a:noFill/>
        </p:spPr>
        <p:txBody>
          <a:bodyPr wrap="square" lIns="0" tIns="0" rIns="0" bIns="0" anchor="t">
            <a:spAutoFit/>
          </a:bodyPr>
          <a:lstStyle/>
          <a:p>
            <a:pPr algn="r">
              <a:spcBef>
                <a:spcPts val="0"/>
              </a:spcBef>
              <a:spcAft>
                <a:spcPts val="600"/>
              </a:spcAft>
            </a:pPr>
            <a:r>
              <a:rPr sz="900" b="0" i="0">
                <a:solidFill>
                  <a:srgbClr val="64748B"/>
                </a:solidFill>
                <a:latin typeface="Calibri"/>
              </a:rPr>
              <a:t>14</a:t>
            </a:r>
          </a:p>
        </p:txBody>
      </p:sp>
      <p:sp>
        <p:nvSpPr>
          <p:cNvPr id="6" name="TextBox 5"/>
          <p:cNvSpPr txBox="1"/>
          <p:nvPr/>
        </p:nvSpPr>
        <p:spPr>
          <a:xfrm>
            <a:off x="713232" y="1188720"/>
            <a:ext cx="7955279" cy="2154436"/>
          </a:xfrm>
          <a:prstGeom prst="rect">
            <a:avLst/>
          </a:prstGeom>
          <a:noFill/>
        </p:spPr>
        <p:txBody>
          <a:bodyPr wrap="square" lIns="0" tIns="0" rIns="0" bIns="0" anchor="t">
            <a:spAutoFit/>
          </a:bodyPr>
          <a:lstStyle/>
          <a:p>
            <a:r>
              <a:rPr lang="en-US" sz="1400" b="1" dirty="0"/>
              <a:t>1. Confidently wrong.</a:t>
            </a:r>
            <a:br>
              <a:rPr lang="en-US" sz="1400" dirty="0"/>
            </a:br>
            <a:r>
              <a:rPr lang="en-US" sz="1400" dirty="0"/>
              <a:t>The system always produces a fluent, authoritative report, so a false positive reads exactly as convincing as a real detection. Grounding stops it from citing a </a:t>
            </a:r>
            <a:r>
              <a:rPr lang="en-US" sz="1400" i="1" dirty="0"/>
              <a:t>fabricated</a:t>
            </a:r>
            <a:r>
              <a:rPr lang="en-US" sz="1400" dirty="0"/>
              <a:t> technique ID, but it can't stop the model from chaining real facts into a wrong story.</a:t>
            </a:r>
          </a:p>
          <a:p>
            <a:r>
              <a:rPr lang="en-US" sz="1400" b="1" dirty="0"/>
              <a:t>2. It only sees shapes, and only what it's handed.</a:t>
            </a:r>
            <a:br>
              <a:rPr lang="en-US" sz="1400" dirty="0"/>
            </a:br>
            <a:r>
              <a:rPr lang="en-US" sz="1400" dirty="0"/>
              <a:t>It reasons over flow </a:t>
            </a:r>
            <a:r>
              <a:rPr lang="en-US" sz="1400" i="1" dirty="0"/>
              <a:t>statistics</a:t>
            </a:r>
            <a:r>
              <a:rPr lang="en-US" sz="1400" dirty="0"/>
              <a:t>, never packet contents, so anything that requires seeing </a:t>
            </a:r>
            <a:r>
              <a:rPr lang="en-US" sz="1400" i="1" dirty="0"/>
              <a:t>what</a:t>
            </a:r>
            <a:r>
              <a:rPr lang="en-US" sz="1400" dirty="0"/>
              <a:t> was actually sent, the exploit itself, the exfiltrated data, encrypted command-and-control, is invisible to it. </a:t>
            </a:r>
          </a:p>
          <a:p>
            <a:r>
              <a:rPr lang="en-US" sz="1400" b="1" dirty="0"/>
              <a:t>3. It helps that we use lab data.</a:t>
            </a:r>
            <a:br>
              <a:rPr lang="en-US" sz="1400" dirty="0"/>
            </a:br>
            <a:r>
              <a:rPr lang="en-US" sz="1400" dirty="0"/>
              <a:t>The measurements that make it credible, detection hit/miss, phase accuracy, depend on dataset labels that simply don't exist on a real network, so most of its scoring goes dark the moment you point it at live traffic. </a:t>
            </a:r>
            <a:endParaRPr sz="1300" b="0" i="0" dirty="0">
              <a:solidFill>
                <a:srgbClr val="1E293B"/>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159</TotalTime>
  <Words>1313</Words>
  <Application>Microsoft Office PowerPoint</Application>
  <PresentationFormat>On-screen Show (16:9)</PresentationFormat>
  <Paragraphs>100</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Jansen, Max</cp:lastModifiedBy>
  <cp:revision>2</cp:revision>
  <dcterms:created xsi:type="dcterms:W3CDTF">2013-01-27T09:14:16Z</dcterms:created>
  <dcterms:modified xsi:type="dcterms:W3CDTF">2026-07-24T20:37:37Z</dcterms:modified>
  <cp:category/>
</cp:coreProperties>
</file>