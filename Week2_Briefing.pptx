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6" r:id="rId4"/>
    <p:sldId id="258" r:id="rId5"/>
    <p:sldId id="275" r:id="rId6"/>
    <p:sldId id="263" r:id="rId7"/>
    <p:sldId id="271" r:id="rId8"/>
    <p:sldId id="274" r:id="rId9"/>
    <p:sldId id="260" r:id="rId10"/>
    <p:sldId id="264" r:id="rId11"/>
    <p:sldId id="262" r:id="rId12"/>
    <p:sldId id="268" r:id="rId13"/>
    <p:sldId id="272" r:id="rId14"/>
    <p:sldId id="269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78" y="1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053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58AC2-45E2-B99F-2A83-141347AB6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4EE0EC-DFD2-DF53-B6C7-E19550E9E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AD66BA-1238-4F2D-D24F-0EAC14622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68C74-6EC6-51CA-C8B7-4374BF2C39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59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0FCA4-B852-4B77-8348-B8D669AB0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4716AD-992C-351A-E1D6-0F6608E7C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A71C70-8EE0-B846-B3C6-5AC7DCB17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B88F8-D69E-6D3B-E870-9BA6A23698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141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457200" cy="914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Building the Network Analyst Agent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Maximilian Jansen   ·   Week 2 Briefing   ·   University of Utah   · 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of Week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AI Agents for Cybersecurity Defense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234440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b="1" dirty="0">
                <a:latin typeface="+mj-lt"/>
              </a:rPr>
              <a:t>Built: </a:t>
            </a:r>
          </a:p>
          <a:p>
            <a:r>
              <a:rPr lang="en-US" sz="1400" dirty="0">
                <a:latin typeface="+mj-lt"/>
              </a:rPr>
              <a:t>     The Network Analyst Agent</a:t>
            </a:r>
          </a:p>
          <a:p>
            <a:r>
              <a:rPr lang="en-US" sz="1400" dirty="0">
                <a:latin typeface="+mj-lt"/>
              </a:rPr>
              <a:t>          - Reads real network logs, finds attacks, explains them in plain language</a:t>
            </a:r>
          </a:p>
          <a:p>
            <a:endParaRPr lang="en-US" sz="1400" dirty="0">
              <a:latin typeface="+mj-lt"/>
            </a:endParaRPr>
          </a:p>
          <a:p>
            <a:r>
              <a:rPr lang="en-US" sz="1400" b="1" dirty="0">
                <a:latin typeface="+mj-lt"/>
              </a:rPr>
              <a:t>Questions Answered: </a:t>
            </a:r>
          </a:p>
          <a:p>
            <a:r>
              <a:rPr lang="en-US" sz="1400" dirty="0">
                <a:latin typeface="+mj-lt"/>
              </a:rPr>
              <a:t>     Can an LLM agent find real attacks in real logs without being shown the answers?</a:t>
            </a:r>
          </a:p>
          <a:p>
            <a:r>
              <a:rPr lang="en-US" sz="1400" dirty="0">
                <a:latin typeface="+mj-lt"/>
              </a:rPr>
              <a:t>     What does it take to go from “runs” to “right”? (five runs, five lessons)</a:t>
            </a:r>
          </a:p>
          <a:p>
            <a:endParaRPr lang="en-US" sz="1400" dirty="0">
              <a:latin typeface="+mj-lt"/>
            </a:endParaRPr>
          </a:p>
          <a:p>
            <a:r>
              <a:rPr lang="en-US" sz="1400" b="1" dirty="0">
                <a:latin typeface="+mj-lt"/>
              </a:rPr>
              <a:t>Reflection Question</a:t>
            </a:r>
          </a:p>
          <a:p>
            <a:r>
              <a:rPr lang="en-US" sz="1400" dirty="0">
                <a:latin typeface="+mj-lt"/>
              </a:rPr>
              <a:t>      What observations can the agent make reliably?</a:t>
            </a:r>
          </a:p>
          <a:p>
            <a:pPr>
              <a:spcAft>
                <a:spcPts val="900"/>
              </a:spcAft>
              <a:buSzPct val="100000"/>
            </a:pPr>
            <a:endParaRPr lang="en-US" sz="1400" dirty="0">
              <a:solidFill>
                <a:srgbClr val="1E293B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900"/>
              </a:spcAft>
              <a:buSzPct val="100000"/>
            </a:pPr>
            <a:r>
              <a:rPr lang="en-US" sz="1400" b="1" dirty="0">
                <a:solidFill>
                  <a:srgbClr val="1E293B"/>
                </a:solidFill>
                <a:latin typeface="+mj-lt"/>
                <a:ea typeface="Calibri" pitchFamily="34" charset="-122"/>
                <a:cs typeface="Calibri" pitchFamily="34" charset="-120"/>
              </a:rPr>
              <a:t>Roadmap for Today:</a:t>
            </a:r>
          </a:p>
          <a:p>
            <a:pPr>
              <a:spcAft>
                <a:spcPts val="900"/>
              </a:spcAft>
              <a:buSzPct val="100000"/>
            </a:pPr>
            <a:r>
              <a:rPr lang="en-US" sz="1400" b="1" dirty="0">
                <a:solidFill>
                  <a:srgbClr val="1E293B"/>
                </a:solidFill>
                <a:latin typeface="+mj-lt"/>
                <a:ea typeface="Calibri" pitchFamily="34" charset="-122"/>
                <a:cs typeface="Calibri" pitchFamily="34" charset="-120"/>
              </a:rPr>
              <a:t>     </a:t>
            </a:r>
            <a:r>
              <a:rPr lang="en-US" sz="1400" dirty="0">
                <a:solidFill>
                  <a:srgbClr val="028090"/>
                </a:solidFill>
                <a:latin typeface="+mj-lt"/>
                <a:ea typeface="Calibri" pitchFamily="34" charset="-122"/>
                <a:cs typeface="Calibri" pitchFamily="34" charset="-120"/>
              </a:rPr>
              <a:t>The data  →  architecture  →  five runs to working  →  measuring it  →  what’s reliable  →  week 3</a:t>
            </a:r>
            <a:endParaRPr lang="en-US" sz="1400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6112" y="365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for full Agent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96112" y="1325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Analyst Agent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0" y="1325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983480" y="1325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(this week) — reads logs, finds attacks, reports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19842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Agent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19842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3480" y="19842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behavior to MITRE ATT&amp;CK  —  week 3, input contract ready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26426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Chain Reasoning Agent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6426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26426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timeline &amp; classify the stage  —  week 4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96112" y="33009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Agent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33009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83480" y="33009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the incident summary  —  week 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Data: CIC-IDS2017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AI Agents for Cybersecurity Defense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188720"/>
            <a:ext cx="79552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 full week of realistic enterprise traffic with labeled, real attacks (Canadian Institute for Cybersecurity)</a:t>
            </a:r>
            <a:endParaRPr lang="en-US" sz="1500" dirty="0"/>
          </a:p>
          <a:p>
            <a:pPr marL="355600" lvl="1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benign traffic modeled on real users; attacks run with real tools (Patator, Hulk)</a:t>
            </a:r>
            <a:endParaRPr lang="en-US" sz="1500" dirty="0">
              <a:solidFill>
                <a:srgbClr val="1E293B"/>
              </a:solidFill>
              <a:ea typeface="Calibri" pitchFamily="34" charset="-122"/>
              <a:cs typeface="Calibri" pitchFamily="34" charset="-120"/>
            </a:endParaRPr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Why CIC-IDS2017?</a:t>
            </a:r>
            <a:endParaRPr lang="en-US" sz="15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KDD99 is from 1999; Zeek samples lack labels; PCAPs need parsing, low CSVs just work</a:t>
            </a:r>
            <a:r>
              <a:rPr lang="en-US" sz="1500" dirty="0">
                <a:solidFill>
                  <a:schemeClr val="tx2">
                    <a:lumMod val="60000"/>
                    <a:lumOff val="40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</a:p>
          <a:p>
            <a:pPr indent="-279400">
              <a:spcAft>
                <a:spcPts val="700"/>
              </a:spcAft>
              <a:buSzPct val="100000"/>
              <a:buChar char="•"/>
            </a:pPr>
            <a:r>
              <a:rPr lang="en-US" sz="1500" dirty="0" err="1"/>
              <a:t>GeneratedLabelledFlows</a:t>
            </a:r>
            <a:r>
              <a:rPr lang="en-US" sz="1500" dirty="0"/>
              <a:t>, not the anonymized MachineLearningCSV</a:t>
            </a:r>
          </a:p>
          <a:p>
            <a:pPr lvl="1" indent="-2794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Keeps IPs and timestamps. The columns needed to name an attacker</a:t>
            </a:r>
          </a:p>
          <a:p>
            <a:pPr>
              <a:spcAft>
                <a:spcPts val="700"/>
              </a:spcAft>
              <a:buSzPct val="100000"/>
            </a:pPr>
            <a:r>
              <a:rPr lang="en-US" sz="1500" b="1" dirty="0"/>
              <a:t>The “Label” is stripped before I feed it to the agent so it doesn't have the answer key</a:t>
            </a:r>
          </a:p>
        </p:txBody>
      </p:sp>
      <p:sp>
        <p:nvSpPr>
          <p:cNvPr id="7" name="Shape 5"/>
          <p:cNvSpPr/>
          <p:nvPr/>
        </p:nvSpPr>
        <p:spPr>
          <a:xfrm>
            <a:off x="713232" y="370332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37764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445,909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04672" y="42062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in Tuesday’s file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 day analyzed at a time)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47872" y="370332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39312" y="37764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39312" y="42062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per flow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(after Label is removed)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82512" y="370332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73952" y="37764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13,835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73952" y="42062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attack flows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(FTP + SSH brute force)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9BD63C-C2CB-DFA2-0D27-E7FEDDC42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E87F10-F6A8-C25C-7184-86E70F53F12B}"/>
              </a:ext>
            </a:extLst>
          </p:cNvPr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24C80D-1389-7A84-360D-1C808AE61245}"/>
              </a:ext>
            </a:extLst>
          </p:cNvPr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Python Script instead of Alternatives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7CACD4F-60FB-51A4-D591-CC75E8B815E4}"/>
              </a:ext>
            </a:extLst>
          </p:cNvPr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AI Agents for Cybersecurity Defense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23A6AB0-A09F-0EE0-AC1B-1FB2D7F57FE4}"/>
              </a:ext>
            </a:extLst>
          </p:cNvPr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D18D4C1-CE9A-407E-3DC6-3B9F13826023}"/>
              </a:ext>
            </a:extLst>
          </p:cNvPr>
          <p:cNvSpPr/>
          <p:nvPr/>
        </p:nvSpPr>
        <p:spPr>
          <a:xfrm>
            <a:off x="713232" y="1188720"/>
            <a:ext cx="79552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/>
              <a:t>Did not want to use Open AI’s Agents or Claude’s Agents</a:t>
            </a:r>
          </a:p>
          <a:p>
            <a:pPr marL="635000" lvl="1" indent="-177800">
              <a:spcAft>
                <a:spcPts val="600"/>
              </a:spcAft>
              <a:buSzPct val="100000"/>
              <a:buChar char="•"/>
            </a:pPr>
            <a:r>
              <a:rPr lang="en-US" sz="1500" dirty="0"/>
              <a:t>Most of the “apps” are locked behind U of U IT anyways</a:t>
            </a:r>
          </a:p>
          <a:p>
            <a:pPr marL="635000" lvl="1" indent="-177800">
              <a:spcAft>
                <a:spcPts val="600"/>
              </a:spcAft>
              <a:buSzPct val="100000"/>
              <a:buChar char="•"/>
            </a:pPr>
            <a:r>
              <a:rPr lang="en-US" sz="1500" dirty="0"/>
              <a:t>Not really learning anything and if going to make a class on this its a black box</a:t>
            </a:r>
          </a:p>
          <a:p>
            <a:pPr marL="635000" lvl="1" indent="-177800">
              <a:spcAft>
                <a:spcPts val="600"/>
              </a:spcAft>
              <a:buSzPct val="100000"/>
              <a:buChar char="•"/>
            </a:pPr>
            <a:r>
              <a:rPr lang="en-US" sz="1500" dirty="0"/>
              <a:t>Doesn’t mesh well once I have many agents running at the same time</a:t>
            </a:r>
          </a:p>
          <a:p>
            <a:pPr marL="635000" lvl="1" indent="-177800">
              <a:spcAft>
                <a:spcPts val="600"/>
              </a:spcAft>
              <a:buSzPct val="100000"/>
              <a:buChar char="•"/>
            </a:pPr>
            <a:r>
              <a:rPr lang="en-US" sz="1500" dirty="0"/>
              <a:t>Open AI can change their agents policy at any time</a:t>
            </a:r>
          </a:p>
        </p:txBody>
      </p:sp>
    </p:spTree>
    <p:extLst>
      <p:ext uri="{BB962C8B-B14F-4D97-AF65-F5344CB8AC3E}">
        <p14:creationId xmlns:p14="http://schemas.microsoft.com/office/powerpoint/2010/main" val="145576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3 Layers + an Eval Sidecar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AI Agents for Cybersecurity Defense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143000"/>
            <a:ext cx="2819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1554480"/>
            <a:ext cx="2819400" cy="195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tools the agent can use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interprets — never sees raw rows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cites tool evidence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3600000"/>
            <a:ext cx="2819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3960000"/>
            <a:ext cx="2819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flag: ollama · claude · openai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loop for weeks 3–5</a:t>
            </a:r>
            <a:endParaRPr lang="en-US" sz="15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5122D4-AA28-5F4C-5CBC-BD72CA65E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5416" y="857817"/>
            <a:ext cx="5159387" cy="40845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1F8B71-7F8D-A2FF-FA88-F9F8B7DBD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473" y="0"/>
            <a:ext cx="649705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469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169EB3-F756-4299-0BC6-9BDF258B5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948B40A-7513-B45C-3DF3-CC71E56039D8}"/>
              </a:ext>
            </a:extLst>
          </p:cNvPr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D913318-019B-9327-C3CF-15FADAF9541A}"/>
              </a:ext>
            </a:extLst>
          </p:cNvPr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breakdown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D3E5A77-BD8D-F844-2B4B-5A6B69D3FC54}"/>
              </a:ext>
            </a:extLst>
          </p:cNvPr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AI Agents for Cybersecurity Defense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99CB6FC-97A9-B3AE-7F55-DB60E0E6C10A}"/>
              </a:ext>
            </a:extLst>
          </p:cNvPr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5932390-4CC6-6017-9037-8D9F93E39018}"/>
              </a:ext>
            </a:extLst>
          </p:cNvPr>
          <p:cNvSpPr/>
          <p:nvPr/>
        </p:nvSpPr>
        <p:spPr>
          <a:xfrm>
            <a:off x="351692" y="851877"/>
            <a:ext cx="8432800" cy="4032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00" b="1" dirty="0" err="1"/>
              <a:t>get_overview</a:t>
            </a:r>
            <a:r>
              <a:rPr lang="en-US" sz="1300" b="1" dirty="0"/>
              <a:t>()</a:t>
            </a:r>
            <a:r>
              <a:rPr lang="en-US" sz="1300" dirty="0"/>
              <a:t> — First look at the dataset: how many flows, what columns exist, busiest destination ports. </a:t>
            </a:r>
            <a:r>
              <a:rPr lang="en-US" sz="1300" i="1" dirty="0"/>
              <a:t>"What am I working with?“</a:t>
            </a:r>
          </a:p>
          <a:p>
            <a:endParaRPr lang="en-US" sz="1300" dirty="0"/>
          </a:p>
          <a:p>
            <a:r>
              <a:rPr lang="en-US" sz="1300" b="1" dirty="0" err="1"/>
              <a:t>get_stats</a:t>
            </a:r>
            <a:r>
              <a:rPr lang="en-US" sz="1300" b="1" dirty="0"/>
              <a:t>(column)</a:t>
            </a:r>
            <a:r>
              <a:rPr lang="en-US" sz="1300" dirty="0"/>
              <a:t> — Summary statistics for any one column (averages, percentiles, most common values). Used to establish what normal looks like before hunting for weird. </a:t>
            </a:r>
            <a:r>
              <a:rPr lang="en-US" sz="1300" i="1" dirty="0"/>
              <a:t>"What does typical traffic look like?“</a:t>
            </a:r>
          </a:p>
          <a:p>
            <a:endParaRPr lang="en-US" sz="1300" dirty="0"/>
          </a:p>
          <a:p>
            <a:r>
              <a:rPr lang="en-US" sz="1300" b="1" dirty="0" err="1"/>
              <a:t>find_outliers</a:t>
            </a:r>
            <a:r>
              <a:rPr lang="en-US" sz="1300" b="1" dirty="0"/>
              <a:t>(column)</a:t>
            </a:r>
            <a:r>
              <a:rPr lang="en-US" sz="1300" dirty="0"/>
              <a:t> — Returns the rows with the most extreme values in a column, with row numbers so the report can cite them. </a:t>
            </a:r>
            <a:r>
              <a:rPr lang="en-US" sz="1300" i="1" dirty="0"/>
              <a:t>"What are the weirdest flows here?“</a:t>
            </a:r>
          </a:p>
          <a:p>
            <a:endParaRPr lang="en-US" sz="1300" dirty="0"/>
          </a:p>
          <a:p>
            <a:r>
              <a:rPr lang="en-US" sz="1300" b="1" dirty="0" err="1"/>
              <a:t>query_flows</a:t>
            </a:r>
            <a:r>
              <a:rPr lang="en-US" sz="1300" b="1" dirty="0"/>
              <a:t>(filter)</a:t>
            </a:r>
            <a:r>
              <a:rPr lang="en-US" sz="1300" dirty="0"/>
              <a:t> — Drills into the raw flows matching any condition, returning a few example rows plus the total match count. </a:t>
            </a:r>
            <a:r>
              <a:rPr lang="en-US" sz="1300" i="1" dirty="0"/>
              <a:t>"Show me the actual traffic on port 22.“</a:t>
            </a:r>
          </a:p>
          <a:p>
            <a:endParaRPr lang="en-US" sz="1300" dirty="0"/>
          </a:p>
          <a:p>
            <a:r>
              <a:rPr lang="en-US" sz="1300" b="1" dirty="0" err="1"/>
              <a:t>count_by</a:t>
            </a:r>
            <a:r>
              <a:rPr lang="en-US" sz="1300" b="1" dirty="0"/>
              <a:t>(filter, column)</a:t>
            </a:r>
            <a:r>
              <a:rPr lang="en-US" sz="1300" dirty="0"/>
              <a:t> — Counts every matching flow, grouped however you ask. </a:t>
            </a:r>
            <a:r>
              <a:rPr lang="en-US" sz="1300" i="1" dirty="0"/>
              <a:t>"Who is hitting port 22, and how many times?“</a:t>
            </a:r>
          </a:p>
          <a:p>
            <a:endParaRPr lang="en-US" sz="1300" dirty="0"/>
          </a:p>
          <a:p>
            <a:r>
              <a:rPr lang="en-US" sz="1300" b="1" dirty="0" err="1"/>
              <a:t>top_talkers</a:t>
            </a:r>
            <a:r>
              <a:rPr lang="en-US" sz="1300" b="1" dirty="0"/>
              <a:t>(n)</a:t>
            </a:r>
            <a:r>
              <a:rPr lang="en-US" sz="1300" dirty="0"/>
              <a:t> — The busiest source IPs: flow counts, how many distinct ports and destinations each one touched, total bytes. Port scans and brute force light up here. </a:t>
            </a:r>
            <a:r>
              <a:rPr lang="en-US" sz="1300" i="1" dirty="0"/>
              <a:t>"Who's making the most noise?"</a:t>
            </a:r>
            <a:endParaRPr lang="en-US" sz="1300" dirty="0"/>
          </a:p>
          <a:p>
            <a:pPr>
              <a:spcAft>
                <a:spcPts val="800"/>
              </a:spcAft>
              <a:buSzPct val="100000"/>
            </a:pPr>
            <a:endParaRPr lang="en-US" sz="13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7167F8-4DCB-205D-BBD5-218A49B3FB12}"/>
              </a:ext>
            </a:extLst>
          </p:cNvPr>
          <p:cNvSpPr txBox="1"/>
          <p:nvPr/>
        </p:nvSpPr>
        <p:spPr>
          <a:xfrm>
            <a:off x="359508" y="4324982"/>
            <a:ext cx="85500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All six are ordinary pandas code. Deterministic, output-capped, and error-safe. The model chooses which to call; it never touches the data directly.</a:t>
            </a:r>
          </a:p>
        </p:txBody>
      </p:sp>
    </p:spTree>
    <p:extLst>
      <p:ext uri="{BB962C8B-B14F-4D97-AF65-F5344CB8AC3E}">
        <p14:creationId xmlns:p14="http://schemas.microsoft.com/office/powerpoint/2010/main" val="3087389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get it working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AI Agents for Cybersecurity Defense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225296"/>
            <a:ext cx="310896" cy="310896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225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1887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qwen2.5-14b, local 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of trouble getting the model tuned correctly, outputs in Chinese and Thai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1728216"/>
            <a:ext cx="310896" cy="310896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69164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qwen2.5-14b again 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method, 6 tokens/sec — model spills out of 12 GB VRAM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2231136"/>
            <a:ext cx="310896" cy="310896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19456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claude-haiku-4.5 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investigated well for 12 turns, ran out the clock — no report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2734056"/>
            <a:ext cx="310896" cy="310896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69748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forced final report 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on time — but named the wrong attacker from 20 sample rows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3236976"/>
            <a:ext cx="310896" cy="310896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20040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count_by tool 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attacks found — exact attacker, victim, and flow counts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31520" y="3662172"/>
            <a:ext cx="310896" cy="310896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31520" y="3675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3625596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Takeaway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judgment calls into computations the LLM can only cite</a:t>
            </a:r>
            <a:endParaRPr lang="en-US" sz="1500" dirty="0"/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F53AF75C-2CC3-FDC8-46D1-F0A2DC894CD2}"/>
              </a:ext>
            </a:extLst>
          </p:cNvPr>
          <p:cNvSpPr/>
          <p:nvPr/>
        </p:nvSpPr>
        <p:spPr>
          <a:xfrm>
            <a:off x="2313432" y="4553712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runs: Tuesday CIC-IDS2017 file (FTP + SSH brute force)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Run: Findings in 44 Seconds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AI Agents for Cybersecurity Defense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234440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[turns 0–1]  get_overview → baseline stats → top_talkers: the 15 busiest source IPs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[turns 2–3]  checks the busiest hosts — busy alone is not guilty (DNS server cleared)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[turn 4]  count_by: who is hitting SSH (port 22)? who is hitting FTP (port 21)?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[turns 5–6]  </a:t>
            </a: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one IP dominates both — drills into 172.16.0.1 vs 192.168.10.50</a:t>
            </a:r>
            <a:endParaRPr lang="en-US" sz="1500" dirty="0"/>
          </a:p>
          <a:p>
            <a:pPr marL="355600" lvl="1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[turn 8]  FINDINGS — SSH brute force: 172.16.0.1 → 192.168.10.50, 5,898 flows (truth: 5,897)</a:t>
            </a:r>
          </a:p>
          <a:p>
            <a:pPr marL="355600" lvl="1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FTP brute force: 172.16.0.1 → 192.168.10.50, 7,937 flows (truth: 7,938)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seconds, ~$0.03 — all of these calls are from a cited tool. The model should not be guessing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Fix: Attribution by Computation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AI Agents for Cybersecurity Defense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88487" y="123444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EEF5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98215" y="1417320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rows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198215" y="2103120"/>
            <a:ext cx="22951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query_flows showed the model the FIRST 20 matching rows. It generalized from that sample and confidently accused the wrong host.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94610" y="123444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EEF5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04338" y="1417320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445,909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404338" y="2103120"/>
            <a:ext cx="22951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count_by groups and counts EVERY flow, “who hits port 22?” is now a computation over all 445,909 flows, not a guess from a sample.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2103120"/>
            <a:ext cx="22951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39776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principle: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computes, the LLM interprets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It: Every Run Gets Graded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AI Agents for Cybersecurity Defense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234440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evaluate_findings() runs after every analysis, grading the report against the hidden Label column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= true attacker IP named  ·  PARTIAL = only the victim  ·  MISS = neither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benign IP the report accuses is listed as a candidate false positive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run scored:  </a:t>
            </a: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FTP-Patator → HIT   ·   SSH-Patator → HIT   ·   2 candidate false positives</a:t>
            </a:r>
            <a:endParaRPr lang="en-US" sz="1500" dirty="0"/>
          </a:p>
          <a:p>
            <a:pPr marL="355600" lvl="1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 FPs: the network’s own DNS server, and Windows Update traffic to a Microsoft IP</a:t>
            </a:r>
          </a:p>
          <a:p>
            <a:pPr marL="355600" lvl="1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both are world-knowledge gaps, not counting errors — the kind a human analyst clears in minutes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are timestamped + model-stamped; compare_findings.py diffs any set of runs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ABEFD2-4097-93C4-B121-A5EE76297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169" y="7280"/>
            <a:ext cx="4892431" cy="50089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4F8749-CDE2-D83A-3CAC-1F533388FAB6}"/>
              </a:ext>
            </a:extLst>
          </p:cNvPr>
          <p:cNvSpPr txBox="1"/>
          <p:nvPr/>
        </p:nvSpPr>
        <p:spPr>
          <a:xfrm>
            <a:off x="804984" y="1160752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Attacker:</a:t>
            </a:r>
          </a:p>
          <a:p>
            <a:r>
              <a:rPr lang="en-US" dirty="0"/>
              <a:t>172.16.0.1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7A9EED-0420-49FF-D044-D911FB6164E9}"/>
              </a:ext>
            </a:extLst>
          </p:cNvPr>
          <p:cNvSpPr txBox="1"/>
          <p:nvPr/>
        </p:nvSpPr>
        <p:spPr>
          <a:xfrm>
            <a:off x="511907" y="2499011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Defender:</a:t>
            </a:r>
          </a:p>
          <a:p>
            <a:r>
              <a:rPr lang="en-US" dirty="0"/>
              <a:t>192.168.10.50</a:t>
            </a:r>
          </a:p>
        </p:txBody>
      </p:sp>
    </p:spTree>
    <p:extLst>
      <p:ext uri="{BB962C8B-B14F-4D97-AF65-F5344CB8AC3E}">
        <p14:creationId xmlns:p14="http://schemas.microsoft.com/office/powerpoint/2010/main" val="322555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Agent, Different Models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AI Agents for Cybersecurity Defense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23444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EEF5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22951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detected by claude-haiku-4.5 with exact attribution. 44-second runs, roughly $0.03 each — a $5 minimum API credit covers ~100 runs.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47872" y="123444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EEF5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0" y="1417320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657600" y="2103120"/>
            <a:ext cx="22951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found by local qwen2.5 on the identical task — it flagged the four loudest benign hosts instead and never followed the port 21/22 trail.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82512" y="123444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EEF5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92240" y="1417320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tok/s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492240" y="2103120"/>
            <a:ext cx="22951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0" i="0" dirty="0">
                <a:solidFill>
                  <a:srgbClr val="08111F"/>
                </a:solidFill>
                <a:effectLst/>
                <a:latin typeface="-apple-system"/>
              </a:rPr>
              <a:t>local 14b generation speed — the model doesn’t fit in 12 GB of laptop VRAM, so runs took 30+ minutes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39776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Reflection: What Can It Observe Reliably?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AI Agents for Cybersecurity Defense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325880"/>
            <a:ext cx="3886200" cy="2286000"/>
          </a:xfrm>
          <a:prstGeom prst="roundRect">
            <a:avLst>
              <a:gd name="adj" fmla="val 3200"/>
            </a:avLst>
          </a:prstGeom>
          <a:solidFill>
            <a:srgbClr val="EEF5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47218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Reliable: observing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3474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Counts, statistics, outliers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via aggregation (count_by)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strategy (baseline → drill down)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reporting with cited evidence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965192" y="1325880"/>
            <a:ext cx="3886200" cy="2286000"/>
          </a:xfrm>
          <a:prstGeom prst="roundRect">
            <a:avLst>
              <a:gd name="adj" fmla="val 3200"/>
            </a:avLst>
          </a:prstGeom>
          <a:solidFill>
            <a:srgbClr val="E7EDF2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66360" y="147218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Unreliable: judging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66360" y="1892808"/>
            <a:ext cx="3474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Generalizing from partial samples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knowledge (what a DNS server is)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benign services (Windows Update)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Malicious-vs-normal intent calls</a:t>
            </a:r>
            <a:endParaRPr lang="en-US" sz="1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F0FB17-9970-BB3B-E719-28456B2A0B58}"/>
              </a:ext>
            </a:extLst>
          </p:cNvPr>
          <p:cNvSpPr txBox="1"/>
          <p:nvPr/>
        </p:nvSpPr>
        <p:spPr>
          <a:xfrm>
            <a:off x="672124" y="3868615"/>
            <a:ext cx="6377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Giving more context will  help in results. All I fed was data, would be more reliable with more context on what its looking for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1599</TotalTime>
  <Words>2054</Words>
  <Application>Microsoft Office PowerPoint</Application>
  <PresentationFormat>On-screen Show (16:9)</PresentationFormat>
  <Paragraphs>177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-apple-system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Human Analysts to AI Agents</dc:title>
  <dc:subject>PptxGenJS Presentation</dc:subject>
  <dc:creator>Maximilian Jansen</dc:creator>
  <cp:lastModifiedBy>Jansen, Max</cp:lastModifiedBy>
  <cp:revision>3</cp:revision>
  <dcterms:created xsi:type="dcterms:W3CDTF">2026-06-25T17:46:10Z</dcterms:created>
  <dcterms:modified xsi:type="dcterms:W3CDTF">2026-07-03T19:58:13Z</dcterms:modified>
</cp:coreProperties>
</file>